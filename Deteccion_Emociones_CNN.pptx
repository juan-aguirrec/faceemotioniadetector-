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0"/>
  </p:notesMasterIdLst>
  <p:sldIdLst>
    <p:sldId id="256" r:id="rId2"/>
    <p:sldId id="257" r:id="rId3"/>
    <p:sldId id="258" r:id="rId4"/>
    <p:sldId id="259" r:id="rId5"/>
    <p:sldId id="261" r:id="rId6"/>
    <p:sldId id="262" r:id="rId7"/>
    <p:sldId id="263" r:id="rId8"/>
    <p:sldId id="264" r:id="rId9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103" d="100"/>
          <a:sy n="103" d="100"/>
        </p:scale>
        <p:origin x="723" y="7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01884244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C1C1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73152" cy="5143500"/>
          </a:xfrm>
          <a:prstGeom prst="rect">
            <a:avLst/>
          </a:prstGeom>
          <a:solidFill>
            <a:srgbClr val="F97316"/>
          </a:solidFill>
          <a:ln w="12700">
            <a:solidFill>
              <a:srgbClr val="F97316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3" name="Shape 1"/>
          <p:cNvSpPr/>
          <p:nvPr/>
        </p:nvSpPr>
        <p:spPr>
          <a:xfrm>
            <a:off x="6858000" y="-457200"/>
            <a:ext cx="3657600" cy="3657600"/>
          </a:xfrm>
          <a:prstGeom prst="ellipse">
            <a:avLst/>
          </a:prstGeom>
          <a:solidFill>
            <a:srgbClr val="F97316">
              <a:alpha val="12000"/>
            </a:srgbClr>
          </a:solidFill>
          <a:ln w="12700">
            <a:solidFill>
              <a:srgbClr val="F97316">
                <a:alpha val="30000"/>
              </a:srgbClr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4" name="Shape 2"/>
          <p:cNvSpPr/>
          <p:nvPr/>
        </p:nvSpPr>
        <p:spPr>
          <a:xfrm>
            <a:off x="7772400" y="2286000"/>
            <a:ext cx="2286000" cy="2286000"/>
          </a:xfrm>
          <a:prstGeom prst="ellipse">
            <a:avLst/>
          </a:prstGeom>
          <a:solidFill>
            <a:srgbClr val="FB923C">
              <a:alpha val="15000"/>
            </a:srgbClr>
          </a:solidFill>
          <a:ln w="12700">
            <a:solidFill>
              <a:srgbClr val="FB923C">
                <a:alpha val="30000"/>
              </a:srgbClr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5" name="Shape 3"/>
          <p:cNvSpPr/>
          <p:nvPr/>
        </p:nvSpPr>
        <p:spPr>
          <a:xfrm>
            <a:off x="365760" y="1005840"/>
            <a:ext cx="2377440" cy="320040"/>
          </a:xfrm>
          <a:prstGeom prst="rect">
            <a:avLst/>
          </a:prstGeom>
          <a:solidFill>
            <a:srgbClr val="F97316"/>
          </a:solidFill>
          <a:ln w="12700">
            <a:solidFill>
              <a:srgbClr val="F97316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6" name="Text 4"/>
          <p:cNvSpPr/>
          <p:nvPr/>
        </p:nvSpPr>
        <p:spPr>
          <a:xfrm>
            <a:off x="365760" y="1005840"/>
            <a:ext cx="2377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5F5F4"/>
                </a:solidFill>
              </a:rPr>
              <a:t>INTELIGENCIA ARTIFICIAL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365760" y="1463040"/>
            <a:ext cx="68580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4200" b="1" dirty="0">
                <a:solidFill>
                  <a:srgbClr val="F5F5F4"/>
                </a:solidFill>
              </a:rPr>
              <a:t>Detección de Emociones</a:t>
            </a:r>
            <a:endParaRPr lang="en-US" sz="4200" dirty="0"/>
          </a:p>
        </p:txBody>
      </p:sp>
      <p:sp>
        <p:nvSpPr>
          <p:cNvPr id="8" name="Text 6"/>
          <p:cNvSpPr/>
          <p:nvPr/>
        </p:nvSpPr>
        <p:spPr>
          <a:xfrm>
            <a:off x="365760" y="2423160"/>
            <a:ext cx="68580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4200" b="1" dirty="0">
                <a:solidFill>
                  <a:srgbClr val="FB923C"/>
                </a:solidFill>
              </a:rPr>
              <a:t>Faciales en Tiempo Real</a:t>
            </a:r>
            <a:endParaRPr lang="en-US" sz="4200" dirty="0"/>
          </a:p>
        </p:txBody>
      </p:sp>
      <p:sp>
        <p:nvSpPr>
          <p:cNvPr id="9" name="Text 7"/>
          <p:cNvSpPr/>
          <p:nvPr/>
        </p:nvSpPr>
        <p:spPr>
          <a:xfrm>
            <a:off x="365760" y="3429000"/>
            <a:ext cx="6858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400" dirty="0">
                <a:solidFill>
                  <a:srgbClr val="A8A29E"/>
                </a:solidFill>
              </a:rPr>
              <a:t>Sistema basado en Redes Neuronales Convolucionales (CNN) con TensorFlow y OpenCV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365760" y="4297680"/>
            <a:ext cx="1234440" cy="292608"/>
          </a:xfrm>
          <a:prstGeom prst="rect">
            <a:avLst/>
          </a:prstGeom>
          <a:solidFill>
            <a:srgbClr val="2D2D2D"/>
          </a:solidFill>
          <a:ln w="12700">
            <a:solidFill>
              <a:srgbClr val="F97316">
                <a:alpha val="40000"/>
              </a:srgbClr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11" name="Text 9"/>
          <p:cNvSpPr/>
          <p:nvPr/>
        </p:nvSpPr>
        <p:spPr>
          <a:xfrm>
            <a:off x="365760" y="4297680"/>
            <a:ext cx="12344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B923C"/>
                </a:solidFill>
              </a:rPr>
              <a:t>TensorFlow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1783080" y="4297680"/>
            <a:ext cx="1234440" cy="292608"/>
          </a:xfrm>
          <a:prstGeom prst="rect">
            <a:avLst/>
          </a:prstGeom>
          <a:solidFill>
            <a:srgbClr val="2D2D2D"/>
          </a:solidFill>
          <a:ln w="12700">
            <a:solidFill>
              <a:srgbClr val="F97316">
                <a:alpha val="40000"/>
              </a:srgbClr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13" name="Text 11"/>
          <p:cNvSpPr/>
          <p:nvPr/>
        </p:nvSpPr>
        <p:spPr>
          <a:xfrm>
            <a:off x="1783080" y="4297680"/>
            <a:ext cx="12344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B923C"/>
                </a:solidFill>
              </a:rPr>
              <a:t>OpenCV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3200400" y="4297680"/>
            <a:ext cx="1234440" cy="292608"/>
          </a:xfrm>
          <a:prstGeom prst="rect">
            <a:avLst/>
          </a:prstGeom>
          <a:solidFill>
            <a:srgbClr val="2D2D2D"/>
          </a:solidFill>
          <a:ln w="12700">
            <a:solidFill>
              <a:srgbClr val="F97316">
                <a:alpha val="40000"/>
              </a:srgbClr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15" name="Text 13"/>
          <p:cNvSpPr/>
          <p:nvPr/>
        </p:nvSpPr>
        <p:spPr>
          <a:xfrm>
            <a:off x="3200400" y="4297680"/>
            <a:ext cx="12344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B923C"/>
                </a:solidFill>
              </a:rPr>
              <a:t>CNN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4617720" y="4297680"/>
            <a:ext cx="1234440" cy="292608"/>
          </a:xfrm>
          <a:prstGeom prst="rect">
            <a:avLst/>
          </a:prstGeom>
          <a:solidFill>
            <a:srgbClr val="2D2D2D"/>
          </a:solidFill>
          <a:ln w="12700">
            <a:solidFill>
              <a:srgbClr val="F97316">
                <a:alpha val="40000"/>
              </a:srgbClr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17" name="Text 15"/>
          <p:cNvSpPr/>
          <p:nvPr/>
        </p:nvSpPr>
        <p:spPr>
          <a:xfrm>
            <a:off x="4617720" y="4297680"/>
            <a:ext cx="12344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B923C"/>
                </a:solidFill>
              </a:rPr>
              <a:t>Python</a:t>
            </a:r>
            <a:endParaRPr lang="en-US" sz="1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1C1C1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73152" cy="5143500"/>
          </a:xfrm>
          <a:prstGeom prst="rect">
            <a:avLst/>
          </a:prstGeom>
          <a:solidFill>
            <a:srgbClr val="F97316"/>
          </a:solidFill>
          <a:ln w="12700">
            <a:solidFill>
              <a:srgbClr val="F97316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3" name="Text 1"/>
          <p:cNvSpPr/>
          <p:nvPr/>
        </p:nvSpPr>
        <p:spPr>
          <a:xfrm>
            <a:off x="274320" y="182880"/>
            <a:ext cx="8595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5F5F4"/>
                </a:solidFill>
              </a:rPr>
              <a:t>Descripción General del Sistema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274320" y="731520"/>
            <a:ext cx="8595360" cy="27432"/>
          </a:xfrm>
          <a:prstGeom prst="rect">
            <a:avLst/>
          </a:prstGeom>
          <a:solidFill>
            <a:srgbClr val="F97316">
              <a:alpha val="40000"/>
            </a:srgbClr>
          </a:solidFill>
          <a:ln w="12700">
            <a:solidFill>
              <a:srgbClr val="F97316">
                <a:alpha val="40000"/>
              </a:srgbClr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5" name="Text 3"/>
          <p:cNvSpPr/>
          <p:nvPr/>
        </p:nvSpPr>
        <p:spPr>
          <a:xfrm>
            <a:off x="274320" y="914400"/>
            <a:ext cx="8595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A8A29E"/>
                </a:solidFill>
              </a:rPr>
              <a:t>El proyecto implementa un pipeline completo de visión por computadora para reconocer emociones humanas a partir de imágenes faciales, tanto en conjuntos de datos estáticos como en video en tiempo real.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228600" y="1828800"/>
            <a:ext cx="2011680" cy="2560320"/>
          </a:xfrm>
          <a:prstGeom prst="rect">
            <a:avLst/>
          </a:prstGeom>
          <a:solidFill>
            <a:srgbClr val="2D2D2D"/>
          </a:solidFill>
          <a:ln w="12700">
            <a:solidFill>
              <a:srgbClr val="F97316">
                <a:alpha val="30000"/>
              </a:srgbClr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s-ES"/>
          </a:p>
        </p:txBody>
      </p:sp>
      <p:sp>
        <p:nvSpPr>
          <p:cNvPr id="7" name="Shape 5"/>
          <p:cNvSpPr/>
          <p:nvPr/>
        </p:nvSpPr>
        <p:spPr>
          <a:xfrm>
            <a:off x="228600" y="1828800"/>
            <a:ext cx="2011680" cy="54864"/>
          </a:xfrm>
          <a:prstGeom prst="rect">
            <a:avLst/>
          </a:prstGeom>
          <a:solidFill>
            <a:srgbClr val="F97316"/>
          </a:solidFill>
          <a:ln w="12700">
            <a:solidFill>
              <a:srgbClr val="F97316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8" name="Text 6"/>
          <p:cNvSpPr/>
          <p:nvPr/>
        </p:nvSpPr>
        <p:spPr>
          <a:xfrm>
            <a:off x="228600" y="1965960"/>
            <a:ext cx="20116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800" dirty="0">
                <a:solidFill>
                  <a:srgbClr val="000000"/>
                </a:solidFill>
              </a:rPr>
              <a:t>🧠</a:t>
            </a:r>
            <a:endParaRPr lang="en-US" sz="2800" dirty="0"/>
          </a:p>
        </p:txBody>
      </p:sp>
      <p:sp>
        <p:nvSpPr>
          <p:cNvPr id="9" name="Text 7"/>
          <p:cNvSpPr/>
          <p:nvPr/>
        </p:nvSpPr>
        <p:spPr>
          <a:xfrm>
            <a:off x="228600" y="2560320"/>
            <a:ext cx="20116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5F5F4"/>
                </a:solidFill>
              </a:rPr>
              <a:t>Entrenamiento CNN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320040" y="3017520"/>
            <a:ext cx="182880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A8A29E"/>
                </a:solidFill>
              </a:rPr>
              <a:t>Modelo con 4 bloques convolucionales entrenado sobre imágenes 48×48 en escala de grises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2423160" y="1828800"/>
            <a:ext cx="2011680" cy="2560320"/>
          </a:xfrm>
          <a:prstGeom prst="rect">
            <a:avLst/>
          </a:prstGeom>
          <a:solidFill>
            <a:srgbClr val="2D2D2D"/>
          </a:solidFill>
          <a:ln w="12700">
            <a:solidFill>
              <a:srgbClr val="FB923C">
                <a:alpha val="30000"/>
              </a:srgbClr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s-ES"/>
          </a:p>
        </p:txBody>
      </p:sp>
      <p:sp>
        <p:nvSpPr>
          <p:cNvPr id="12" name="Shape 10"/>
          <p:cNvSpPr/>
          <p:nvPr/>
        </p:nvSpPr>
        <p:spPr>
          <a:xfrm>
            <a:off x="2423160" y="1828800"/>
            <a:ext cx="2011680" cy="54864"/>
          </a:xfrm>
          <a:prstGeom prst="rect">
            <a:avLst/>
          </a:prstGeom>
          <a:solidFill>
            <a:srgbClr val="FB923C"/>
          </a:solidFill>
          <a:ln w="12700">
            <a:solidFill>
              <a:srgbClr val="FB923C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13" name="Text 11"/>
          <p:cNvSpPr/>
          <p:nvPr/>
        </p:nvSpPr>
        <p:spPr>
          <a:xfrm>
            <a:off x="2423160" y="1965960"/>
            <a:ext cx="20116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800" dirty="0">
                <a:solidFill>
                  <a:srgbClr val="000000"/>
                </a:solidFill>
              </a:rPr>
              <a:t>📷</a:t>
            </a:r>
            <a:endParaRPr lang="en-US" sz="2800" dirty="0"/>
          </a:p>
        </p:txBody>
      </p:sp>
      <p:sp>
        <p:nvSpPr>
          <p:cNvPr id="14" name="Text 12"/>
          <p:cNvSpPr/>
          <p:nvPr/>
        </p:nvSpPr>
        <p:spPr>
          <a:xfrm>
            <a:off x="2423160" y="2560320"/>
            <a:ext cx="20116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5F5F4"/>
                </a:solidFill>
              </a:rPr>
              <a:t>Detección en Vivo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2514600" y="3017520"/>
            <a:ext cx="182880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A8A29E"/>
                </a:solidFill>
              </a:rPr>
              <a:t>Pipeline OpenCV para captura de cámara, detección de rostros y predicción en tiempo real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4617720" y="1828800"/>
            <a:ext cx="2011680" cy="2560320"/>
          </a:xfrm>
          <a:prstGeom prst="rect">
            <a:avLst/>
          </a:prstGeom>
          <a:solidFill>
            <a:srgbClr val="2D2D2D"/>
          </a:solidFill>
          <a:ln w="12700">
            <a:solidFill>
              <a:srgbClr val="A8A29E">
                <a:alpha val="30000"/>
              </a:srgbClr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s-ES"/>
          </a:p>
        </p:txBody>
      </p:sp>
      <p:sp>
        <p:nvSpPr>
          <p:cNvPr id="17" name="Shape 15"/>
          <p:cNvSpPr/>
          <p:nvPr/>
        </p:nvSpPr>
        <p:spPr>
          <a:xfrm>
            <a:off x="4617720" y="1828800"/>
            <a:ext cx="2011680" cy="54864"/>
          </a:xfrm>
          <a:prstGeom prst="rect">
            <a:avLst/>
          </a:prstGeom>
          <a:solidFill>
            <a:srgbClr val="A8A29E"/>
          </a:solidFill>
          <a:ln w="12700">
            <a:solidFill>
              <a:srgbClr val="A8A29E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18" name="Text 16"/>
          <p:cNvSpPr/>
          <p:nvPr/>
        </p:nvSpPr>
        <p:spPr>
          <a:xfrm>
            <a:off x="4617720" y="1965960"/>
            <a:ext cx="20116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800" dirty="0">
                <a:solidFill>
                  <a:srgbClr val="000000"/>
                </a:solidFill>
              </a:rPr>
              <a:t>😊</a:t>
            </a:r>
            <a:endParaRPr lang="en-US" sz="2800" dirty="0"/>
          </a:p>
        </p:txBody>
      </p:sp>
      <p:sp>
        <p:nvSpPr>
          <p:cNvPr id="19" name="Text 17"/>
          <p:cNvSpPr/>
          <p:nvPr/>
        </p:nvSpPr>
        <p:spPr>
          <a:xfrm>
            <a:off x="4617720" y="2560320"/>
            <a:ext cx="20116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5F5F4"/>
                </a:solidFill>
              </a:rPr>
              <a:t>5 Emociones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4709160" y="3017520"/>
            <a:ext cx="182880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A8A29E"/>
                </a:solidFill>
              </a:rPr>
              <a:t>Angry · Happy · Neutral · Sad · Surprised clasificadas con softmax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6812280" y="1828800"/>
            <a:ext cx="2011680" cy="2560320"/>
          </a:xfrm>
          <a:prstGeom prst="rect">
            <a:avLst/>
          </a:prstGeom>
          <a:solidFill>
            <a:srgbClr val="2D2D2D"/>
          </a:solidFill>
          <a:ln w="12700">
            <a:solidFill>
              <a:srgbClr val="FBBF24">
                <a:alpha val="30000"/>
              </a:srgbClr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s-ES"/>
          </a:p>
        </p:txBody>
      </p:sp>
      <p:sp>
        <p:nvSpPr>
          <p:cNvPr id="22" name="Shape 20"/>
          <p:cNvSpPr/>
          <p:nvPr/>
        </p:nvSpPr>
        <p:spPr>
          <a:xfrm>
            <a:off x="6812280" y="1828800"/>
            <a:ext cx="2011680" cy="54864"/>
          </a:xfrm>
          <a:prstGeom prst="rect">
            <a:avLst/>
          </a:prstGeom>
          <a:solidFill>
            <a:srgbClr val="FBBF24"/>
          </a:solidFill>
          <a:ln w="12700">
            <a:solidFill>
              <a:srgbClr val="FBBF24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23" name="Text 21"/>
          <p:cNvSpPr/>
          <p:nvPr/>
        </p:nvSpPr>
        <p:spPr>
          <a:xfrm>
            <a:off x="6812280" y="1965960"/>
            <a:ext cx="20116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800" dirty="0">
                <a:solidFill>
                  <a:srgbClr val="000000"/>
                </a:solidFill>
              </a:rPr>
              <a:t>📊</a:t>
            </a:r>
            <a:endParaRPr lang="en-US" sz="2800" dirty="0"/>
          </a:p>
        </p:txBody>
      </p:sp>
      <p:sp>
        <p:nvSpPr>
          <p:cNvPr id="24" name="Text 22"/>
          <p:cNvSpPr/>
          <p:nvPr/>
        </p:nvSpPr>
        <p:spPr>
          <a:xfrm>
            <a:off x="6812280" y="2560320"/>
            <a:ext cx="20116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5F5F4"/>
                </a:solidFill>
              </a:rPr>
              <a:t>Evaluación</a:t>
            </a:r>
            <a:endParaRPr lang="en-US" sz="1200" dirty="0"/>
          </a:p>
        </p:txBody>
      </p:sp>
      <p:sp>
        <p:nvSpPr>
          <p:cNvPr id="25" name="Text 23"/>
          <p:cNvSpPr/>
          <p:nvPr/>
        </p:nvSpPr>
        <p:spPr>
          <a:xfrm>
            <a:off x="6903720" y="3017520"/>
            <a:ext cx="182880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A8A29E"/>
                </a:solidFill>
              </a:rPr>
              <a:t>Matriz de confusión, reporte de clasificación y métricas de precisión por clase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1C1C1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73152" cy="5143500"/>
          </a:xfrm>
          <a:prstGeom prst="rect">
            <a:avLst/>
          </a:prstGeom>
          <a:solidFill>
            <a:srgbClr val="F97316"/>
          </a:solidFill>
          <a:ln w="12700">
            <a:solidFill>
              <a:srgbClr val="F97316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3" name="Text 1"/>
          <p:cNvSpPr/>
          <p:nvPr/>
        </p:nvSpPr>
        <p:spPr>
          <a:xfrm>
            <a:off x="274320" y="182880"/>
            <a:ext cx="8595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5F5F4"/>
                </a:solidFill>
              </a:rPr>
              <a:t>Arquitectura del Modelo CNN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274320" y="731520"/>
            <a:ext cx="8595360" cy="27432"/>
          </a:xfrm>
          <a:prstGeom prst="rect">
            <a:avLst/>
          </a:prstGeom>
          <a:solidFill>
            <a:srgbClr val="F97316">
              <a:alpha val="40000"/>
            </a:srgbClr>
          </a:solidFill>
          <a:ln w="12700">
            <a:solidFill>
              <a:srgbClr val="F97316">
                <a:alpha val="40000"/>
              </a:srgbClr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5" name="Shape 3"/>
          <p:cNvSpPr/>
          <p:nvPr/>
        </p:nvSpPr>
        <p:spPr>
          <a:xfrm>
            <a:off x="228600" y="914400"/>
            <a:ext cx="1005840" cy="1463040"/>
          </a:xfrm>
          <a:prstGeom prst="rect">
            <a:avLst/>
          </a:prstGeom>
          <a:solidFill>
            <a:srgbClr val="FBBF24">
              <a:alpha val="20000"/>
            </a:srgbClr>
          </a:solidFill>
          <a:ln w="12700">
            <a:solidFill>
              <a:srgbClr val="FBBF24">
                <a:alpha val="70000"/>
              </a:srgbClr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s-ES"/>
          </a:p>
        </p:txBody>
      </p:sp>
      <p:sp>
        <p:nvSpPr>
          <p:cNvPr id="6" name="Shape 4"/>
          <p:cNvSpPr/>
          <p:nvPr/>
        </p:nvSpPr>
        <p:spPr>
          <a:xfrm>
            <a:off x="228600" y="914400"/>
            <a:ext cx="1005840" cy="54864"/>
          </a:xfrm>
          <a:prstGeom prst="rect">
            <a:avLst/>
          </a:prstGeom>
          <a:solidFill>
            <a:srgbClr val="FBBF24"/>
          </a:solidFill>
          <a:ln w="12700">
            <a:solidFill>
              <a:srgbClr val="FBBF24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7" name="Text 5"/>
          <p:cNvSpPr/>
          <p:nvPr/>
        </p:nvSpPr>
        <p:spPr>
          <a:xfrm>
            <a:off x="228600" y="1005840"/>
            <a:ext cx="1005840" cy="1325880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t"/>
          <a:lstStyle/>
          <a:p>
            <a:pPr marL="0" indent="0" algn="ctr">
              <a:buNone/>
            </a:pPr>
            <a:r>
              <a:rPr lang="en-US" sz="950" dirty="0">
                <a:solidFill>
                  <a:srgbClr val="F5F5F4"/>
                </a:solidFill>
              </a:rPr>
              <a:t>INPUT</a:t>
            </a:r>
            <a:endParaRPr lang="en-US" sz="950" dirty="0"/>
          </a:p>
          <a:p>
            <a:pPr marL="0" indent="0" algn="ctr">
              <a:buNone/>
            </a:pPr>
            <a:r>
              <a:rPr lang="en-US" sz="950" dirty="0">
                <a:solidFill>
                  <a:srgbClr val="F5F5F4"/>
                </a:solidFill>
              </a:rPr>
              <a:t>48×48×1</a:t>
            </a:r>
            <a:endParaRPr lang="en-US" sz="950" dirty="0"/>
          </a:p>
        </p:txBody>
      </p:sp>
      <p:sp>
        <p:nvSpPr>
          <p:cNvPr id="8" name="Shape 6"/>
          <p:cNvSpPr/>
          <p:nvPr/>
        </p:nvSpPr>
        <p:spPr>
          <a:xfrm>
            <a:off x="1234440" y="1627632"/>
            <a:ext cx="164592" cy="36576"/>
          </a:xfrm>
          <a:prstGeom prst="rect">
            <a:avLst/>
          </a:prstGeom>
          <a:solidFill>
            <a:srgbClr val="A8A29E"/>
          </a:solidFill>
          <a:ln w="12700">
            <a:solidFill>
              <a:srgbClr val="A8A29E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9" name="Shape 7"/>
          <p:cNvSpPr/>
          <p:nvPr/>
        </p:nvSpPr>
        <p:spPr>
          <a:xfrm>
            <a:off x="1399032" y="914400"/>
            <a:ext cx="1874520" cy="1463040"/>
          </a:xfrm>
          <a:prstGeom prst="rect">
            <a:avLst/>
          </a:prstGeom>
          <a:solidFill>
            <a:srgbClr val="F97316">
              <a:alpha val="20000"/>
            </a:srgbClr>
          </a:solidFill>
          <a:ln w="12700">
            <a:solidFill>
              <a:srgbClr val="F97316">
                <a:alpha val="70000"/>
              </a:srgbClr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s-ES"/>
          </a:p>
        </p:txBody>
      </p:sp>
      <p:sp>
        <p:nvSpPr>
          <p:cNvPr id="10" name="Shape 8"/>
          <p:cNvSpPr/>
          <p:nvPr/>
        </p:nvSpPr>
        <p:spPr>
          <a:xfrm>
            <a:off x="1399032" y="914400"/>
            <a:ext cx="1874520" cy="54864"/>
          </a:xfrm>
          <a:prstGeom prst="rect">
            <a:avLst/>
          </a:prstGeom>
          <a:solidFill>
            <a:srgbClr val="F97316"/>
          </a:solidFill>
          <a:ln w="12700">
            <a:solidFill>
              <a:srgbClr val="F97316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11" name="Text 9"/>
          <p:cNvSpPr/>
          <p:nvPr/>
        </p:nvSpPr>
        <p:spPr>
          <a:xfrm>
            <a:off x="1399032" y="1005840"/>
            <a:ext cx="1874520" cy="1325880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t"/>
          <a:lstStyle/>
          <a:p>
            <a:pPr marL="0" indent="0" algn="ctr">
              <a:buNone/>
            </a:pPr>
            <a:r>
              <a:rPr lang="en-US" sz="950" dirty="0">
                <a:solidFill>
                  <a:srgbClr val="F5F5F4"/>
                </a:solidFill>
              </a:rPr>
              <a:t>BLOQUE 1</a:t>
            </a:r>
            <a:endParaRPr lang="en-US" sz="950" dirty="0"/>
          </a:p>
          <a:p>
            <a:pPr marL="0" indent="0" algn="ctr">
              <a:buNone/>
            </a:pPr>
            <a:r>
              <a:rPr lang="en-US" sz="950" dirty="0">
                <a:solidFill>
                  <a:srgbClr val="F5F5F4"/>
                </a:solidFill>
              </a:rPr>
              <a:t>2×Conv2D(32)</a:t>
            </a:r>
            <a:endParaRPr lang="en-US" sz="950" dirty="0"/>
          </a:p>
          <a:p>
            <a:pPr marL="0" indent="0" algn="ctr">
              <a:buNone/>
            </a:pPr>
            <a:r>
              <a:rPr lang="en-US" sz="950" dirty="0">
                <a:solidFill>
                  <a:srgbClr val="F5F5F4"/>
                </a:solidFill>
              </a:rPr>
              <a:t>BatchNorm · ReLU</a:t>
            </a:r>
            <a:endParaRPr lang="en-US" sz="950" dirty="0"/>
          </a:p>
          <a:p>
            <a:pPr marL="0" indent="0" algn="ctr">
              <a:buNone/>
            </a:pPr>
            <a:r>
              <a:rPr lang="en-US" sz="950" dirty="0">
                <a:solidFill>
                  <a:srgbClr val="F5F5F4"/>
                </a:solidFill>
              </a:rPr>
              <a:t>MaxPool</a:t>
            </a:r>
            <a:endParaRPr lang="en-US" sz="950" dirty="0"/>
          </a:p>
          <a:p>
            <a:pPr marL="0" indent="0" algn="ctr">
              <a:buNone/>
            </a:pPr>
            <a:r>
              <a:rPr lang="en-US" sz="950" dirty="0">
                <a:solidFill>
                  <a:srgbClr val="F5F5F4"/>
                </a:solidFill>
              </a:rPr>
              <a:t>Dropout(0.2)</a:t>
            </a:r>
            <a:endParaRPr lang="en-US" sz="950" dirty="0"/>
          </a:p>
        </p:txBody>
      </p:sp>
      <p:sp>
        <p:nvSpPr>
          <p:cNvPr id="12" name="Shape 10"/>
          <p:cNvSpPr/>
          <p:nvPr/>
        </p:nvSpPr>
        <p:spPr>
          <a:xfrm>
            <a:off x="3273552" y="1627632"/>
            <a:ext cx="164592" cy="36576"/>
          </a:xfrm>
          <a:prstGeom prst="rect">
            <a:avLst/>
          </a:prstGeom>
          <a:solidFill>
            <a:srgbClr val="A8A29E"/>
          </a:solidFill>
          <a:ln w="12700">
            <a:solidFill>
              <a:srgbClr val="A8A29E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13" name="Shape 11"/>
          <p:cNvSpPr/>
          <p:nvPr/>
        </p:nvSpPr>
        <p:spPr>
          <a:xfrm>
            <a:off x="3438144" y="914400"/>
            <a:ext cx="1874520" cy="1463040"/>
          </a:xfrm>
          <a:prstGeom prst="rect">
            <a:avLst/>
          </a:prstGeom>
          <a:solidFill>
            <a:srgbClr val="F97316">
              <a:alpha val="20000"/>
            </a:srgbClr>
          </a:solidFill>
          <a:ln w="12700">
            <a:solidFill>
              <a:srgbClr val="F97316">
                <a:alpha val="70000"/>
              </a:srgbClr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s-ES"/>
          </a:p>
        </p:txBody>
      </p:sp>
      <p:sp>
        <p:nvSpPr>
          <p:cNvPr id="14" name="Shape 12"/>
          <p:cNvSpPr/>
          <p:nvPr/>
        </p:nvSpPr>
        <p:spPr>
          <a:xfrm>
            <a:off x="3438144" y="914400"/>
            <a:ext cx="1874520" cy="54864"/>
          </a:xfrm>
          <a:prstGeom prst="rect">
            <a:avLst/>
          </a:prstGeom>
          <a:solidFill>
            <a:srgbClr val="F97316"/>
          </a:solidFill>
          <a:ln w="12700">
            <a:solidFill>
              <a:srgbClr val="F97316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15" name="Text 13"/>
          <p:cNvSpPr/>
          <p:nvPr/>
        </p:nvSpPr>
        <p:spPr>
          <a:xfrm>
            <a:off x="3438144" y="1005840"/>
            <a:ext cx="1874520" cy="1325880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t"/>
          <a:lstStyle/>
          <a:p>
            <a:pPr marL="0" indent="0" algn="ctr">
              <a:buNone/>
            </a:pPr>
            <a:r>
              <a:rPr lang="en-US" sz="950" dirty="0">
                <a:solidFill>
                  <a:srgbClr val="F5F5F4"/>
                </a:solidFill>
              </a:rPr>
              <a:t>BLOQUE 2</a:t>
            </a:r>
            <a:endParaRPr lang="en-US" sz="950" dirty="0"/>
          </a:p>
          <a:p>
            <a:pPr marL="0" indent="0" algn="ctr">
              <a:buNone/>
            </a:pPr>
            <a:r>
              <a:rPr lang="en-US" sz="950" dirty="0">
                <a:solidFill>
                  <a:srgbClr val="F5F5F4"/>
                </a:solidFill>
              </a:rPr>
              <a:t>2×Conv2D(64)</a:t>
            </a:r>
            <a:endParaRPr lang="en-US" sz="950" dirty="0"/>
          </a:p>
          <a:p>
            <a:pPr marL="0" indent="0" algn="ctr">
              <a:buNone/>
            </a:pPr>
            <a:r>
              <a:rPr lang="en-US" sz="950" dirty="0">
                <a:solidFill>
                  <a:srgbClr val="F5F5F4"/>
                </a:solidFill>
              </a:rPr>
              <a:t>BatchNorm · ReLU</a:t>
            </a:r>
            <a:endParaRPr lang="en-US" sz="950" dirty="0"/>
          </a:p>
          <a:p>
            <a:pPr marL="0" indent="0" algn="ctr">
              <a:buNone/>
            </a:pPr>
            <a:r>
              <a:rPr lang="en-US" sz="950" dirty="0">
                <a:solidFill>
                  <a:srgbClr val="F5F5F4"/>
                </a:solidFill>
              </a:rPr>
              <a:t>MaxPool</a:t>
            </a:r>
            <a:endParaRPr lang="en-US" sz="950" dirty="0"/>
          </a:p>
          <a:p>
            <a:pPr marL="0" indent="0" algn="ctr">
              <a:buNone/>
            </a:pPr>
            <a:r>
              <a:rPr lang="en-US" sz="950" dirty="0">
                <a:solidFill>
                  <a:srgbClr val="F5F5F4"/>
                </a:solidFill>
              </a:rPr>
              <a:t>Dropout(0.25)</a:t>
            </a:r>
            <a:endParaRPr lang="en-US" sz="950" dirty="0"/>
          </a:p>
        </p:txBody>
      </p:sp>
      <p:sp>
        <p:nvSpPr>
          <p:cNvPr id="16" name="Shape 14"/>
          <p:cNvSpPr/>
          <p:nvPr/>
        </p:nvSpPr>
        <p:spPr>
          <a:xfrm>
            <a:off x="5312664" y="1627632"/>
            <a:ext cx="164592" cy="36576"/>
          </a:xfrm>
          <a:prstGeom prst="rect">
            <a:avLst/>
          </a:prstGeom>
          <a:solidFill>
            <a:srgbClr val="A8A29E"/>
          </a:solidFill>
          <a:ln w="12700">
            <a:solidFill>
              <a:srgbClr val="A8A29E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17" name="Shape 15"/>
          <p:cNvSpPr/>
          <p:nvPr/>
        </p:nvSpPr>
        <p:spPr>
          <a:xfrm>
            <a:off x="5477256" y="914400"/>
            <a:ext cx="1874520" cy="1463040"/>
          </a:xfrm>
          <a:prstGeom prst="rect">
            <a:avLst/>
          </a:prstGeom>
          <a:solidFill>
            <a:srgbClr val="F97316">
              <a:alpha val="20000"/>
            </a:srgbClr>
          </a:solidFill>
          <a:ln w="12700">
            <a:solidFill>
              <a:srgbClr val="F97316">
                <a:alpha val="70000"/>
              </a:srgbClr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s-ES"/>
          </a:p>
        </p:txBody>
      </p:sp>
      <p:sp>
        <p:nvSpPr>
          <p:cNvPr id="18" name="Shape 16"/>
          <p:cNvSpPr/>
          <p:nvPr/>
        </p:nvSpPr>
        <p:spPr>
          <a:xfrm>
            <a:off x="5477256" y="914400"/>
            <a:ext cx="1874520" cy="54864"/>
          </a:xfrm>
          <a:prstGeom prst="rect">
            <a:avLst/>
          </a:prstGeom>
          <a:solidFill>
            <a:srgbClr val="F97316"/>
          </a:solidFill>
          <a:ln w="12700">
            <a:solidFill>
              <a:srgbClr val="F97316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19" name="Text 17"/>
          <p:cNvSpPr/>
          <p:nvPr/>
        </p:nvSpPr>
        <p:spPr>
          <a:xfrm>
            <a:off x="5477256" y="1005840"/>
            <a:ext cx="1874520" cy="1325880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t"/>
          <a:lstStyle/>
          <a:p>
            <a:pPr marL="0" indent="0" algn="ctr">
              <a:buNone/>
            </a:pPr>
            <a:r>
              <a:rPr lang="en-US" sz="950" dirty="0">
                <a:solidFill>
                  <a:srgbClr val="F5F5F4"/>
                </a:solidFill>
              </a:rPr>
              <a:t>BLOQUE 3</a:t>
            </a:r>
            <a:endParaRPr lang="en-US" sz="950" dirty="0"/>
          </a:p>
          <a:p>
            <a:pPr marL="0" indent="0" algn="ctr">
              <a:buNone/>
            </a:pPr>
            <a:r>
              <a:rPr lang="en-US" sz="950" dirty="0">
                <a:solidFill>
                  <a:srgbClr val="F5F5F4"/>
                </a:solidFill>
              </a:rPr>
              <a:t>2×Conv2D(128)</a:t>
            </a:r>
            <a:endParaRPr lang="en-US" sz="950" dirty="0"/>
          </a:p>
          <a:p>
            <a:pPr marL="0" indent="0" algn="ctr">
              <a:buNone/>
            </a:pPr>
            <a:r>
              <a:rPr lang="en-US" sz="950" dirty="0">
                <a:solidFill>
                  <a:srgbClr val="F5F5F4"/>
                </a:solidFill>
              </a:rPr>
              <a:t>BatchNorm · ReLU</a:t>
            </a:r>
            <a:endParaRPr lang="en-US" sz="950" dirty="0"/>
          </a:p>
          <a:p>
            <a:pPr marL="0" indent="0" algn="ctr">
              <a:buNone/>
            </a:pPr>
            <a:r>
              <a:rPr lang="en-US" sz="950" dirty="0">
                <a:solidFill>
                  <a:srgbClr val="F5F5F4"/>
                </a:solidFill>
              </a:rPr>
              <a:t>MaxPool</a:t>
            </a:r>
            <a:endParaRPr lang="en-US" sz="950" dirty="0"/>
          </a:p>
          <a:p>
            <a:pPr marL="0" indent="0" algn="ctr">
              <a:buNone/>
            </a:pPr>
            <a:r>
              <a:rPr lang="en-US" sz="950" dirty="0">
                <a:solidFill>
                  <a:srgbClr val="F5F5F4"/>
                </a:solidFill>
              </a:rPr>
              <a:t>Dropout(0.3)</a:t>
            </a:r>
            <a:endParaRPr lang="en-US" sz="950" dirty="0"/>
          </a:p>
        </p:txBody>
      </p:sp>
      <p:sp>
        <p:nvSpPr>
          <p:cNvPr id="20" name="Shape 18"/>
          <p:cNvSpPr/>
          <p:nvPr/>
        </p:nvSpPr>
        <p:spPr>
          <a:xfrm>
            <a:off x="7351776" y="1627632"/>
            <a:ext cx="164592" cy="36576"/>
          </a:xfrm>
          <a:prstGeom prst="rect">
            <a:avLst/>
          </a:prstGeom>
          <a:solidFill>
            <a:srgbClr val="A8A29E"/>
          </a:solidFill>
          <a:ln w="12700">
            <a:solidFill>
              <a:srgbClr val="A8A29E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21" name="Shape 19"/>
          <p:cNvSpPr/>
          <p:nvPr/>
        </p:nvSpPr>
        <p:spPr>
          <a:xfrm>
            <a:off x="7516368" y="941832"/>
            <a:ext cx="1577626" cy="1463040"/>
          </a:xfrm>
          <a:prstGeom prst="rect">
            <a:avLst/>
          </a:prstGeom>
          <a:solidFill>
            <a:srgbClr val="7C3AED">
              <a:alpha val="20000"/>
            </a:srgbClr>
          </a:solidFill>
          <a:ln w="12700">
            <a:solidFill>
              <a:srgbClr val="7C3AED">
                <a:alpha val="70000"/>
              </a:srgbClr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s-ES"/>
          </a:p>
        </p:txBody>
      </p:sp>
      <p:sp>
        <p:nvSpPr>
          <p:cNvPr id="22" name="Shape 20"/>
          <p:cNvSpPr/>
          <p:nvPr/>
        </p:nvSpPr>
        <p:spPr>
          <a:xfrm>
            <a:off x="7516368" y="941832"/>
            <a:ext cx="1577626" cy="54864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23" name="Text 21"/>
          <p:cNvSpPr/>
          <p:nvPr/>
        </p:nvSpPr>
        <p:spPr>
          <a:xfrm>
            <a:off x="7516368" y="1033272"/>
            <a:ext cx="1577626" cy="1325880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t"/>
          <a:lstStyle/>
          <a:p>
            <a:pPr marL="0" indent="0" algn="ctr">
              <a:buNone/>
            </a:pPr>
            <a:r>
              <a:rPr lang="en-US" sz="950" dirty="0">
                <a:solidFill>
                  <a:srgbClr val="F5F5F4"/>
                </a:solidFill>
              </a:rPr>
              <a:t>BLOQUE 4</a:t>
            </a:r>
            <a:endParaRPr lang="en-US" sz="950" dirty="0"/>
          </a:p>
          <a:p>
            <a:pPr marL="0" indent="0" algn="ctr">
              <a:buNone/>
            </a:pPr>
            <a:r>
              <a:rPr lang="en-US" sz="950" dirty="0">
                <a:solidFill>
                  <a:srgbClr val="F5F5F4"/>
                </a:solidFill>
              </a:rPr>
              <a:t>Conv2D(256)</a:t>
            </a:r>
            <a:endParaRPr lang="en-US" sz="950" dirty="0"/>
          </a:p>
          <a:p>
            <a:pPr marL="0" indent="0" algn="ctr">
              <a:buNone/>
            </a:pPr>
            <a:r>
              <a:rPr lang="en-US" sz="950" dirty="0">
                <a:solidFill>
                  <a:srgbClr val="F5F5F4"/>
                </a:solidFill>
              </a:rPr>
              <a:t>BatchNorm · ReLU</a:t>
            </a:r>
            <a:endParaRPr lang="en-US" sz="950" dirty="0"/>
          </a:p>
          <a:p>
            <a:pPr marL="0" indent="0" algn="ctr">
              <a:buNone/>
            </a:pPr>
            <a:r>
              <a:rPr lang="en-US" sz="950" dirty="0">
                <a:solidFill>
                  <a:srgbClr val="F5F5F4"/>
                </a:solidFill>
              </a:rPr>
              <a:t>Dropout(0.3)</a:t>
            </a:r>
            <a:endParaRPr lang="en-US" sz="950" dirty="0"/>
          </a:p>
        </p:txBody>
      </p:sp>
      <p:sp>
        <p:nvSpPr>
          <p:cNvPr id="24" name="Shape 22"/>
          <p:cNvSpPr/>
          <p:nvPr/>
        </p:nvSpPr>
        <p:spPr>
          <a:xfrm>
            <a:off x="7132320" y="2377440"/>
            <a:ext cx="36576" cy="365760"/>
          </a:xfrm>
          <a:prstGeom prst="rect">
            <a:avLst/>
          </a:prstGeom>
          <a:solidFill>
            <a:srgbClr val="A8A29E"/>
          </a:solidFill>
          <a:ln w="12700">
            <a:solidFill>
              <a:srgbClr val="A8A29E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25" name="Text 23"/>
          <p:cNvSpPr/>
          <p:nvPr/>
        </p:nvSpPr>
        <p:spPr>
          <a:xfrm>
            <a:off x="6903720" y="269748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A8A29E"/>
                </a:solidFill>
              </a:rPr>
              <a:t>↓</a:t>
            </a:r>
            <a:endParaRPr lang="en-US" sz="1400" dirty="0"/>
          </a:p>
        </p:txBody>
      </p:sp>
      <p:sp>
        <p:nvSpPr>
          <p:cNvPr id="26" name="Shape 24"/>
          <p:cNvSpPr/>
          <p:nvPr/>
        </p:nvSpPr>
        <p:spPr>
          <a:xfrm>
            <a:off x="1371600" y="3063240"/>
            <a:ext cx="2377440" cy="1463040"/>
          </a:xfrm>
          <a:prstGeom prst="rect">
            <a:avLst/>
          </a:prstGeom>
          <a:solidFill>
            <a:srgbClr val="FB923C">
              <a:alpha val="20000"/>
            </a:srgbClr>
          </a:solidFill>
          <a:ln w="12700">
            <a:solidFill>
              <a:srgbClr val="FB923C">
                <a:alpha val="70000"/>
              </a:srgbClr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s-ES"/>
          </a:p>
        </p:txBody>
      </p:sp>
      <p:sp>
        <p:nvSpPr>
          <p:cNvPr id="27" name="Shape 25"/>
          <p:cNvSpPr/>
          <p:nvPr/>
        </p:nvSpPr>
        <p:spPr>
          <a:xfrm>
            <a:off x="1371600" y="3063240"/>
            <a:ext cx="2377440" cy="54864"/>
          </a:xfrm>
          <a:prstGeom prst="rect">
            <a:avLst/>
          </a:prstGeom>
          <a:solidFill>
            <a:srgbClr val="FB923C"/>
          </a:solidFill>
          <a:ln w="12700">
            <a:solidFill>
              <a:srgbClr val="FB923C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28" name="Text 26"/>
          <p:cNvSpPr/>
          <p:nvPr/>
        </p:nvSpPr>
        <p:spPr>
          <a:xfrm>
            <a:off x="1371600" y="3154680"/>
            <a:ext cx="2377440" cy="1325880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F5F5F4"/>
                </a:solidFill>
              </a:rPr>
              <a:t>GlobalAveragePooling2D</a:t>
            </a:r>
            <a:endParaRPr lang="en-US" sz="1000" dirty="0"/>
          </a:p>
        </p:txBody>
      </p:sp>
      <p:sp>
        <p:nvSpPr>
          <p:cNvPr id="29" name="Shape 27"/>
          <p:cNvSpPr/>
          <p:nvPr/>
        </p:nvSpPr>
        <p:spPr>
          <a:xfrm>
            <a:off x="3749040" y="3776472"/>
            <a:ext cx="164592" cy="36576"/>
          </a:xfrm>
          <a:prstGeom prst="rect">
            <a:avLst/>
          </a:prstGeom>
          <a:solidFill>
            <a:srgbClr val="A8A29E"/>
          </a:solidFill>
          <a:ln w="12700">
            <a:solidFill>
              <a:srgbClr val="A8A29E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30" name="Shape 28"/>
          <p:cNvSpPr/>
          <p:nvPr/>
        </p:nvSpPr>
        <p:spPr>
          <a:xfrm>
            <a:off x="3913632" y="3063240"/>
            <a:ext cx="2560320" cy="1463040"/>
          </a:xfrm>
          <a:prstGeom prst="rect">
            <a:avLst/>
          </a:prstGeom>
          <a:solidFill>
            <a:srgbClr val="FB923C">
              <a:alpha val="20000"/>
            </a:srgbClr>
          </a:solidFill>
          <a:ln w="12700">
            <a:solidFill>
              <a:srgbClr val="FB923C">
                <a:alpha val="70000"/>
              </a:srgbClr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s-ES"/>
          </a:p>
        </p:txBody>
      </p:sp>
      <p:sp>
        <p:nvSpPr>
          <p:cNvPr id="31" name="Shape 29"/>
          <p:cNvSpPr/>
          <p:nvPr/>
        </p:nvSpPr>
        <p:spPr>
          <a:xfrm>
            <a:off x="3913632" y="3063240"/>
            <a:ext cx="2560320" cy="54864"/>
          </a:xfrm>
          <a:prstGeom prst="rect">
            <a:avLst/>
          </a:prstGeom>
          <a:solidFill>
            <a:srgbClr val="FB923C"/>
          </a:solidFill>
          <a:ln w="12700">
            <a:solidFill>
              <a:srgbClr val="FB923C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32" name="Text 30"/>
          <p:cNvSpPr/>
          <p:nvPr/>
        </p:nvSpPr>
        <p:spPr>
          <a:xfrm>
            <a:off x="3913632" y="3154680"/>
            <a:ext cx="2560320" cy="1325880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F5F5F4"/>
                </a:solidFill>
              </a:rPr>
              <a:t>Dense(128) · BatchNorm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dirty="0">
                <a:solidFill>
                  <a:srgbClr val="F5F5F4"/>
                </a:solidFill>
              </a:rPr>
              <a:t>Dropout(0.35)</a:t>
            </a:r>
            <a:endParaRPr lang="en-US" sz="1000" dirty="0"/>
          </a:p>
        </p:txBody>
      </p:sp>
      <p:sp>
        <p:nvSpPr>
          <p:cNvPr id="33" name="Shape 31"/>
          <p:cNvSpPr/>
          <p:nvPr/>
        </p:nvSpPr>
        <p:spPr>
          <a:xfrm>
            <a:off x="6473952" y="3776472"/>
            <a:ext cx="164592" cy="36576"/>
          </a:xfrm>
          <a:prstGeom prst="rect">
            <a:avLst/>
          </a:prstGeom>
          <a:solidFill>
            <a:srgbClr val="A8A29E"/>
          </a:solidFill>
          <a:ln w="12700">
            <a:solidFill>
              <a:srgbClr val="A8A29E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34" name="Shape 32"/>
          <p:cNvSpPr/>
          <p:nvPr/>
        </p:nvSpPr>
        <p:spPr>
          <a:xfrm>
            <a:off x="6638544" y="3063240"/>
            <a:ext cx="1828800" cy="1463040"/>
          </a:xfrm>
          <a:prstGeom prst="rect">
            <a:avLst/>
          </a:prstGeom>
          <a:solidFill>
            <a:srgbClr val="A8A29E">
              <a:alpha val="20000"/>
            </a:srgbClr>
          </a:solidFill>
          <a:ln w="12700">
            <a:solidFill>
              <a:srgbClr val="A8A29E">
                <a:alpha val="70000"/>
              </a:srgbClr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s-ES"/>
          </a:p>
        </p:txBody>
      </p:sp>
      <p:sp>
        <p:nvSpPr>
          <p:cNvPr id="35" name="Shape 33"/>
          <p:cNvSpPr/>
          <p:nvPr/>
        </p:nvSpPr>
        <p:spPr>
          <a:xfrm>
            <a:off x="6638544" y="3063240"/>
            <a:ext cx="1828800" cy="54864"/>
          </a:xfrm>
          <a:prstGeom prst="rect">
            <a:avLst/>
          </a:prstGeom>
          <a:solidFill>
            <a:srgbClr val="A8A29E"/>
          </a:solidFill>
          <a:ln w="12700">
            <a:solidFill>
              <a:srgbClr val="A8A29E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36" name="Text 34"/>
          <p:cNvSpPr/>
          <p:nvPr/>
        </p:nvSpPr>
        <p:spPr>
          <a:xfrm>
            <a:off x="6638544" y="3154680"/>
            <a:ext cx="1828800" cy="1325880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F5F5F4"/>
                </a:solidFill>
              </a:rPr>
              <a:t>Dense(5)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dirty="0">
                <a:solidFill>
                  <a:srgbClr val="F5F5F4"/>
                </a:solidFill>
              </a:rPr>
              <a:t>Softmax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dirty="0">
                <a:solidFill>
                  <a:srgbClr val="F5F5F4"/>
                </a:solidFill>
              </a:rPr>
              <a:t>OUTPUT</a:t>
            </a:r>
            <a:endParaRPr lang="en-US" sz="1000" dirty="0"/>
          </a:p>
        </p:txBody>
      </p:sp>
      <p:sp>
        <p:nvSpPr>
          <p:cNvPr id="37" name="Text 35"/>
          <p:cNvSpPr/>
          <p:nvPr/>
        </p:nvSpPr>
        <p:spPr>
          <a:xfrm>
            <a:off x="274320" y="4754880"/>
            <a:ext cx="8595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i="1" dirty="0">
                <a:solidFill>
                  <a:srgbClr val="A8A29E"/>
                </a:solidFill>
              </a:rPr>
              <a:t>Extracción de características espaciales  →  Clasificación softmax en 5 emociones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1C1C1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73152" cy="5143500"/>
          </a:xfrm>
          <a:prstGeom prst="rect">
            <a:avLst/>
          </a:prstGeom>
          <a:solidFill>
            <a:srgbClr val="FB923C"/>
          </a:solidFill>
          <a:ln w="12700">
            <a:solidFill>
              <a:srgbClr val="FB923C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3" name="Text 1"/>
          <p:cNvSpPr/>
          <p:nvPr/>
        </p:nvSpPr>
        <p:spPr>
          <a:xfrm>
            <a:off x="274320" y="182880"/>
            <a:ext cx="8595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5F5F4"/>
                </a:solidFill>
              </a:rPr>
              <a:t>Datos y Preprocesamiento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274320" y="731520"/>
            <a:ext cx="8595360" cy="27432"/>
          </a:xfrm>
          <a:prstGeom prst="rect">
            <a:avLst/>
          </a:prstGeom>
          <a:solidFill>
            <a:srgbClr val="FB923C">
              <a:alpha val="40000"/>
            </a:srgbClr>
          </a:solidFill>
          <a:ln w="12700">
            <a:solidFill>
              <a:srgbClr val="FB923C">
                <a:alpha val="40000"/>
              </a:srgbClr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5" name="Shape 3"/>
          <p:cNvSpPr/>
          <p:nvPr/>
        </p:nvSpPr>
        <p:spPr>
          <a:xfrm>
            <a:off x="274320" y="914400"/>
            <a:ext cx="3931920" cy="1463040"/>
          </a:xfrm>
          <a:prstGeom prst="rect">
            <a:avLst/>
          </a:prstGeom>
          <a:solidFill>
            <a:srgbClr val="2D2D2D"/>
          </a:solidFill>
          <a:ln w="12700">
            <a:solidFill>
              <a:srgbClr val="FB923C">
                <a:alpha val="30000"/>
              </a:srgbClr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s-ES"/>
          </a:p>
        </p:txBody>
      </p:sp>
      <p:sp>
        <p:nvSpPr>
          <p:cNvPr id="6" name="Text 4"/>
          <p:cNvSpPr/>
          <p:nvPr/>
        </p:nvSpPr>
        <p:spPr>
          <a:xfrm>
            <a:off x="274320" y="914400"/>
            <a:ext cx="3931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B923C"/>
                </a:solidFill>
              </a:rPr>
              <a:t>📁  Dataset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457200" y="1325880"/>
            <a:ext cx="35661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A8A29E"/>
                </a:solidFill>
              </a:rPr>
              <a:t>• Imágenes 48 × 48 píxeles en escala de grises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457200" y="1572768"/>
            <a:ext cx="35661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A8A29E"/>
                </a:solidFill>
              </a:rPr>
              <a:t>• 5 clases: angry, happy, neutral, sad, surprised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457200" y="1819656"/>
            <a:ext cx="35661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A8A29E"/>
                </a:solidFill>
              </a:rPr>
              <a:t>• Conjuntos separados: /train  y  /test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457200" y="2066544"/>
            <a:ext cx="35661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A8A29E"/>
                </a:solidFill>
              </a:rPr>
              <a:t>• Class weights para balancear clases desiguales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4480560" y="914400"/>
            <a:ext cx="4480560" cy="1463040"/>
          </a:xfrm>
          <a:prstGeom prst="rect">
            <a:avLst/>
          </a:prstGeom>
          <a:solidFill>
            <a:srgbClr val="2D2D2D"/>
          </a:solidFill>
          <a:ln w="12700">
            <a:solidFill>
              <a:srgbClr val="F97316">
                <a:alpha val="30000"/>
              </a:srgbClr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s-ES"/>
          </a:p>
        </p:txBody>
      </p:sp>
      <p:sp>
        <p:nvSpPr>
          <p:cNvPr id="12" name="Text 10"/>
          <p:cNvSpPr/>
          <p:nvPr/>
        </p:nvSpPr>
        <p:spPr>
          <a:xfrm>
            <a:off x="4480560" y="914400"/>
            <a:ext cx="4480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97316"/>
                </a:solidFill>
              </a:rPr>
              <a:t>🔄  Data Augmentation (Train)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4663440" y="1325880"/>
            <a:ext cx="4114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A8A29E"/>
                </a:solidFill>
              </a:rPr>
              <a:t>• Rotación:   ±5°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4663440" y="1527048"/>
            <a:ext cx="4114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A8A29E"/>
                </a:solidFill>
              </a:rPr>
              <a:t>• Zoom:       5%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4663440" y="1728216"/>
            <a:ext cx="4114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A8A29E"/>
                </a:solidFill>
              </a:rPr>
              <a:t>• Shift H/V:  3%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4663440" y="1929384"/>
            <a:ext cx="4114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A8A29E"/>
                </a:solidFill>
              </a:rPr>
              <a:t>• Flip horizontal activado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4663440" y="2130552"/>
            <a:ext cx="4114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A8A29E"/>
                </a:solidFill>
              </a:rPr>
              <a:t>• Rescale:    1/255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274320" y="2514600"/>
            <a:ext cx="8686800" cy="1280160"/>
          </a:xfrm>
          <a:prstGeom prst="rect">
            <a:avLst/>
          </a:prstGeom>
          <a:solidFill>
            <a:srgbClr val="2D2D2D"/>
          </a:solidFill>
          <a:ln w="12700">
            <a:solidFill>
              <a:srgbClr val="FBBF24">
                <a:alpha val="30000"/>
              </a:srgbClr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s-ES"/>
          </a:p>
        </p:txBody>
      </p:sp>
      <p:sp>
        <p:nvSpPr>
          <p:cNvPr id="19" name="Text 17"/>
          <p:cNvSpPr/>
          <p:nvPr/>
        </p:nvSpPr>
        <p:spPr>
          <a:xfrm>
            <a:off x="274320" y="2514600"/>
            <a:ext cx="8686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BBF24"/>
                </a:solidFill>
              </a:rPr>
              <a:t>⚖️  Class Weights — Manejo de Desbalance de Clases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457200" y="2926080"/>
            <a:ext cx="8321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A8A29E"/>
                </a:solidFill>
              </a:rPr>
              <a:t>Se calculan pesos inversamente proporcionales a la frecuencia de cada clase: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457200" y="3218688"/>
            <a:ext cx="8321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5F5F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weight[i]  =  total_samples  ÷  (num_classes × count[i])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457200" y="3566160"/>
            <a:ext cx="8321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A8A29E"/>
                </a:solidFill>
              </a:rPr>
              <a:t>Las clases con menos imágenes reciben mayor peso durante el entrenamiento, evitando que el modelo ignore emociones sub-representadas.</a:t>
            </a:r>
            <a:endParaRPr lang="en-US" sz="1000" dirty="0"/>
          </a:p>
        </p:txBody>
      </p:sp>
      <p:sp>
        <p:nvSpPr>
          <p:cNvPr id="23" name="Shape 21"/>
          <p:cNvSpPr/>
          <p:nvPr/>
        </p:nvSpPr>
        <p:spPr>
          <a:xfrm>
            <a:off x="274320" y="4069080"/>
            <a:ext cx="1554480" cy="777240"/>
          </a:xfrm>
          <a:prstGeom prst="rect">
            <a:avLst/>
          </a:prstGeom>
          <a:solidFill>
            <a:srgbClr val="2D2D2D"/>
          </a:solidFill>
          <a:ln w="12700">
            <a:solidFill>
              <a:srgbClr val="FB923C">
                <a:alpha val="40000"/>
              </a:srgbClr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s-ES"/>
          </a:p>
        </p:txBody>
      </p:sp>
      <p:sp>
        <p:nvSpPr>
          <p:cNvPr id="24" name="Text 22"/>
          <p:cNvSpPr/>
          <p:nvPr/>
        </p:nvSpPr>
        <p:spPr>
          <a:xfrm>
            <a:off x="274320" y="4069080"/>
            <a:ext cx="1554480" cy="7772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F5F5F4"/>
                </a:solidFill>
              </a:rPr>
              <a:t>📂 Carpetas</a:t>
            </a:r>
            <a:endParaRPr lang="en-US" sz="950" dirty="0"/>
          </a:p>
          <a:p>
            <a:pPr marL="0" indent="0" algn="ctr">
              <a:buNone/>
            </a:pPr>
            <a:r>
              <a:rPr lang="en-US" sz="950" dirty="0">
                <a:solidFill>
                  <a:srgbClr val="F5F5F4"/>
                </a:solidFill>
              </a:rPr>
              <a:t>Train/Test</a:t>
            </a:r>
            <a:endParaRPr lang="en-US" sz="950" dirty="0"/>
          </a:p>
        </p:txBody>
      </p:sp>
      <p:sp>
        <p:nvSpPr>
          <p:cNvPr id="25" name="Text 23"/>
          <p:cNvSpPr/>
          <p:nvPr/>
        </p:nvSpPr>
        <p:spPr>
          <a:xfrm>
            <a:off x="1828800" y="4206240"/>
            <a:ext cx="182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FB923C"/>
                </a:solidFill>
              </a:rPr>
              <a:t>→</a:t>
            </a:r>
            <a:endParaRPr lang="en-US" sz="1400" dirty="0"/>
          </a:p>
        </p:txBody>
      </p:sp>
      <p:sp>
        <p:nvSpPr>
          <p:cNvPr id="26" name="Shape 24"/>
          <p:cNvSpPr/>
          <p:nvPr/>
        </p:nvSpPr>
        <p:spPr>
          <a:xfrm>
            <a:off x="2011680" y="4069080"/>
            <a:ext cx="1554480" cy="777240"/>
          </a:xfrm>
          <a:prstGeom prst="rect">
            <a:avLst/>
          </a:prstGeom>
          <a:solidFill>
            <a:srgbClr val="2D2D2D"/>
          </a:solidFill>
          <a:ln w="12700">
            <a:solidFill>
              <a:srgbClr val="FB923C">
                <a:alpha val="40000"/>
              </a:srgbClr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s-ES"/>
          </a:p>
        </p:txBody>
      </p:sp>
      <p:sp>
        <p:nvSpPr>
          <p:cNvPr id="27" name="Text 25"/>
          <p:cNvSpPr/>
          <p:nvPr/>
        </p:nvSpPr>
        <p:spPr>
          <a:xfrm>
            <a:off x="2011680" y="4069080"/>
            <a:ext cx="1554480" cy="7772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F5F5F4"/>
                </a:solidFill>
              </a:rPr>
              <a:t>🔍 Validar</a:t>
            </a:r>
            <a:endParaRPr lang="en-US" sz="950" dirty="0"/>
          </a:p>
          <a:p>
            <a:pPr marL="0" indent="0" algn="ctr">
              <a:buNone/>
            </a:pPr>
            <a:r>
              <a:rPr lang="en-US" sz="950" dirty="0">
                <a:solidFill>
                  <a:srgbClr val="F5F5F4"/>
                </a:solidFill>
              </a:rPr>
              <a:t>Clases</a:t>
            </a:r>
            <a:endParaRPr lang="en-US" sz="950" dirty="0"/>
          </a:p>
        </p:txBody>
      </p:sp>
      <p:sp>
        <p:nvSpPr>
          <p:cNvPr id="28" name="Text 26"/>
          <p:cNvSpPr/>
          <p:nvPr/>
        </p:nvSpPr>
        <p:spPr>
          <a:xfrm>
            <a:off x="3566160" y="4206240"/>
            <a:ext cx="182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FB923C"/>
                </a:solidFill>
              </a:rPr>
              <a:t>→</a:t>
            </a:r>
            <a:endParaRPr lang="en-US" sz="1400" dirty="0"/>
          </a:p>
        </p:txBody>
      </p:sp>
      <p:sp>
        <p:nvSpPr>
          <p:cNvPr id="29" name="Shape 27"/>
          <p:cNvSpPr/>
          <p:nvPr/>
        </p:nvSpPr>
        <p:spPr>
          <a:xfrm>
            <a:off x="3749040" y="4069080"/>
            <a:ext cx="1554480" cy="777240"/>
          </a:xfrm>
          <a:prstGeom prst="rect">
            <a:avLst/>
          </a:prstGeom>
          <a:solidFill>
            <a:srgbClr val="2D2D2D"/>
          </a:solidFill>
          <a:ln w="12700">
            <a:solidFill>
              <a:srgbClr val="FB923C">
                <a:alpha val="40000"/>
              </a:srgbClr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s-ES"/>
          </a:p>
        </p:txBody>
      </p:sp>
      <p:sp>
        <p:nvSpPr>
          <p:cNvPr id="30" name="Text 28"/>
          <p:cNvSpPr/>
          <p:nvPr/>
        </p:nvSpPr>
        <p:spPr>
          <a:xfrm>
            <a:off x="3749040" y="4069080"/>
            <a:ext cx="1554480" cy="7772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F5F5F4"/>
                </a:solidFill>
              </a:rPr>
              <a:t>🔄 Augment</a:t>
            </a:r>
            <a:endParaRPr lang="en-US" sz="950" dirty="0"/>
          </a:p>
          <a:p>
            <a:pPr marL="0" indent="0" algn="ctr">
              <a:buNone/>
            </a:pPr>
            <a:r>
              <a:rPr lang="en-US" sz="950" dirty="0">
                <a:solidFill>
                  <a:srgbClr val="F5F5F4"/>
                </a:solidFill>
              </a:rPr>
              <a:t>&amp; Rescale</a:t>
            </a:r>
            <a:endParaRPr lang="en-US" sz="950" dirty="0"/>
          </a:p>
        </p:txBody>
      </p:sp>
      <p:sp>
        <p:nvSpPr>
          <p:cNvPr id="31" name="Text 29"/>
          <p:cNvSpPr/>
          <p:nvPr/>
        </p:nvSpPr>
        <p:spPr>
          <a:xfrm>
            <a:off x="5303520" y="4206240"/>
            <a:ext cx="182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FB923C"/>
                </a:solidFill>
              </a:rPr>
              <a:t>→</a:t>
            </a:r>
            <a:endParaRPr lang="en-US" sz="1400" dirty="0"/>
          </a:p>
        </p:txBody>
      </p:sp>
      <p:sp>
        <p:nvSpPr>
          <p:cNvPr id="32" name="Shape 30"/>
          <p:cNvSpPr/>
          <p:nvPr/>
        </p:nvSpPr>
        <p:spPr>
          <a:xfrm>
            <a:off x="5486400" y="4069080"/>
            <a:ext cx="1554480" cy="777240"/>
          </a:xfrm>
          <a:prstGeom prst="rect">
            <a:avLst/>
          </a:prstGeom>
          <a:solidFill>
            <a:srgbClr val="2D2D2D"/>
          </a:solidFill>
          <a:ln w="12700">
            <a:solidFill>
              <a:srgbClr val="FB923C">
                <a:alpha val="40000"/>
              </a:srgbClr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s-ES"/>
          </a:p>
        </p:txBody>
      </p:sp>
      <p:sp>
        <p:nvSpPr>
          <p:cNvPr id="33" name="Text 31"/>
          <p:cNvSpPr/>
          <p:nvPr/>
        </p:nvSpPr>
        <p:spPr>
          <a:xfrm>
            <a:off x="5486400" y="4069080"/>
            <a:ext cx="1554480" cy="7772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F5F5F4"/>
                </a:solidFill>
              </a:rPr>
              <a:t>⚖️ Class</a:t>
            </a:r>
            <a:endParaRPr lang="en-US" sz="950" dirty="0"/>
          </a:p>
          <a:p>
            <a:pPr marL="0" indent="0" algn="ctr">
              <a:buNone/>
            </a:pPr>
            <a:r>
              <a:rPr lang="en-US" sz="950" dirty="0">
                <a:solidFill>
                  <a:srgbClr val="F5F5F4"/>
                </a:solidFill>
              </a:rPr>
              <a:t>Weights</a:t>
            </a:r>
            <a:endParaRPr lang="en-US" sz="950" dirty="0"/>
          </a:p>
        </p:txBody>
      </p:sp>
      <p:sp>
        <p:nvSpPr>
          <p:cNvPr id="34" name="Text 32"/>
          <p:cNvSpPr/>
          <p:nvPr/>
        </p:nvSpPr>
        <p:spPr>
          <a:xfrm>
            <a:off x="7040880" y="4206240"/>
            <a:ext cx="182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FB923C"/>
                </a:solidFill>
              </a:rPr>
              <a:t>→</a:t>
            </a:r>
            <a:endParaRPr lang="en-US" sz="1400" dirty="0"/>
          </a:p>
        </p:txBody>
      </p:sp>
      <p:sp>
        <p:nvSpPr>
          <p:cNvPr id="35" name="Shape 33"/>
          <p:cNvSpPr/>
          <p:nvPr/>
        </p:nvSpPr>
        <p:spPr>
          <a:xfrm>
            <a:off x="7223760" y="4069080"/>
            <a:ext cx="1554480" cy="777240"/>
          </a:xfrm>
          <a:prstGeom prst="rect">
            <a:avLst/>
          </a:prstGeom>
          <a:solidFill>
            <a:srgbClr val="2D2D2D"/>
          </a:solidFill>
          <a:ln w="12700">
            <a:solidFill>
              <a:srgbClr val="FB923C">
                <a:alpha val="40000"/>
              </a:srgbClr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s-ES"/>
          </a:p>
        </p:txBody>
      </p:sp>
      <p:sp>
        <p:nvSpPr>
          <p:cNvPr id="36" name="Text 34"/>
          <p:cNvSpPr/>
          <p:nvPr/>
        </p:nvSpPr>
        <p:spPr>
          <a:xfrm>
            <a:off x="7223760" y="4069080"/>
            <a:ext cx="1554480" cy="7772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F5F5F4"/>
                </a:solidFill>
              </a:rPr>
              <a:t>🚀 Entrenar</a:t>
            </a:r>
            <a:endParaRPr lang="en-US" sz="950" dirty="0"/>
          </a:p>
          <a:p>
            <a:pPr marL="0" indent="0" algn="ctr">
              <a:buNone/>
            </a:pPr>
            <a:r>
              <a:rPr lang="en-US" sz="950" dirty="0">
                <a:solidFill>
                  <a:srgbClr val="F5F5F4"/>
                </a:solidFill>
              </a:rPr>
              <a:t>Modelo</a:t>
            </a:r>
            <a:endParaRPr lang="en-US" sz="9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1C1C1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73152" cy="5143500"/>
          </a:xfrm>
          <a:prstGeom prst="rect">
            <a:avLst/>
          </a:prstGeom>
          <a:solidFill>
            <a:srgbClr val="FBBF24"/>
          </a:solidFill>
          <a:ln w="12700">
            <a:solidFill>
              <a:srgbClr val="FBBF24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3" name="Text 1"/>
          <p:cNvSpPr/>
          <p:nvPr/>
        </p:nvSpPr>
        <p:spPr>
          <a:xfrm>
            <a:off x="274320" y="182880"/>
            <a:ext cx="8595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5F5F4"/>
                </a:solidFill>
              </a:rPr>
              <a:t>Detección en Tiempo Real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274320" y="731520"/>
            <a:ext cx="8595360" cy="27432"/>
          </a:xfrm>
          <a:prstGeom prst="rect">
            <a:avLst/>
          </a:prstGeom>
          <a:solidFill>
            <a:srgbClr val="FBBF24">
              <a:alpha val="40000"/>
            </a:srgbClr>
          </a:solidFill>
          <a:ln w="12700">
            <a:solidFill>
              <a:srgbClr val="FBBF24">
                <a:alpha val="40000"/>
              </a:srgbClr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5" name="Text 3"/>
          <p:cNvSpPr/>
          <p:nvPr/>
        </p:nvSpPr>
        <p:spPr>
          <a:xfrm>
            <a:off x="274320" y="868680"/>
            <a:ext cx="85953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A8A29E"/>
                </a:solidFill>
              </a:rPr>
              <a:t>El módulo de inferencia en tiempo real implementa un pipeline completo con OpenCV para procesar video de cámara cuadro a cuadro.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274320" y="1417320"/>
            <a:ext cx="411480" cy="411480"/>
          </a:xfrm>
          <a:prstGeom prst="ellipse">
            <a:avLst/>
          </a:prstGeom>
          <a:solidFill>
            <a:srgbClr val="F97316"/>
          </a:solidFill>
          <a:ln w="12700">
            <a:solidFill>
              <a:srgbClr val="F97316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7" name="Text 5"/>
          <p:cNvSpPr/>
          <p:nvPr/>
        </p:nvSpPr>
        <p:spPr>
          <a:xfrm>
            <a:off x="274320" y="141732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5F5F4"/>
                </a:solidFill>
              </a:rPr>
              <a:t>1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457200" y="1828800"/>
            <a:ext cx="27432" cy="320040"/>
          </a:xfrm>
          <a:prstGeom prst="rect">
            <a:avLst/>
          </a:prstGeom>
          <a:solidFill>
            <a:srgbClr val="A8A29E">
              <a:alpha val="50000"/>
            </a:srgbClr>
          </a:solidFill>
          <a:ln w="12700">
            <a:solidFill>
              <a:srgbClr val="A8A29E">
                <a:alpha val="50000"/>
              </a:srgbClr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9" name="Shape 7"/>
          <p:cNvSpPr/>
          <p:nvPr/>
        </p:nvSpPr>
        <p:spPr>
          <a:xfrm>
            <a:off x="822960" y="1371600"/>
            <a:ext cx="8138160" cy="594360"/>
          </a:xfrm>
          <a:prstGeom prst="rect">
            <a:avLst/>
          </a:prstGeom>
          <a:solidFill>
            <a:srgbClr val="2D2D2D"/>
          </a:solidFill>
          <a:ln w="12700">
            <a:solidFill>
              <a:srgbClr val="F97316">
                <a:alpha val="25000"/>
              </a:srgbClr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s-ES"/>
          </a:p>
        </p:txBody>
      </p:sp>
      <p:sp>
        <p:nvSpPr>
          <p:cNvPr id="10" name="Text 8"/>
          <p:cNvSpPr/>
          <p:nvPr/>
        </p:nvSpPr>
        <p:spPr>
          <a:xfrm>
            <a:off x="960120" y="1408176"/>
            <a:ext cx="4114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5F5F4"/>
                </a:solidFill>
              </a:rPr>
              <a:t>Captura de Video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960120" y="1664208"/>
            <a:ext cx="78181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A8A29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cv2.VideoCapture(0) — accede a la webcam y lee frame a frame en el loop principal</a:t>
            </a:r>
            <a:endParaRPr lang="en-US" sz="950" dirty="0"/>
          </a:p>
        </p:txBody>
      </p:sp>
      <p:sp>
        <p:nvSpPr>
          <p:cNvPr id="12" name="Shape 10"/>
          <p:cNvSpPr/>
          <p:nvPr/>
        </p:nvSpPr>
        <p:spPr>
          <a:xfrm>
            <a:off x="274320" y="2148840"/>
            <a:ext cx="411480" cy="411480"/>
          </a:xfrm>
          <a:prstGeom prst="ellipse">
            <a:avLst/>
          </a:prstGeom>
          <a:solidFill>
            <a:srgbClr val="FB923C"/>
          </a:solidFill>
          <a:ln w="12700">
            <a:solidFill>
              <a:srgbClr val="FB923C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13" name="Text 11"/>
          <p:cNvSpPr/>
          <p:nvPr/>
        </p:nvSpPr>
        <p:spPr>
          <a:xfrm>
            <a:off x="274320" y="214884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5F5F4"/>
                </a:solidFill>
              </a:rPr>
              <a:t>2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457200" y="2560320"/>
            <a:ext cx="27432" cy="320040"/>
          </a:xfrm>
          <a:prstGeom prst="rect">
            <a:avLst/>
          </a:prstGeom>
          <a:solidFill>
            <a:srgbClr val="A8A29E">
              <a:alpha val="50000"/>
            </a:srgbClr>
          </a:solidFill>
          <a:ln w="12700">
            <a:solidFill>
              <a:srgbClr val="A8A29E">
                <a:alpha val="50000"/>
              </a:srgbClr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15" name="Shape 13"/>
          <p:cNvSpPr/>
          <p:nvPr/>
        </p:nvSpPr>
        <p:spPr>
          <a:xfrm>
            <a:off x="822960" y="2103120"/>
            <a:ext cx="8138160" cy="594360"/>
          </a:xfrm>
          <a:prstGeom prst="rect">
            <a:avLst/>
          </a:prstGeom>
          <a:solidFill>
            <a:srgbClr val="2D2D2D"/>
          </a:solidFill>
          <a:ln w="12700">
            <a:solidFill>
              <a:srgbClr val="FB923C">
                <a:alpha val="25000"/>
              </a:srgbClr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s-ES"/>
          </a:p>
        </p:txBody>
      </p:sp>
      <p:sp>
        <p:nvSpPr>
          <p:cNvPr id="16" name="Text 14"/>
          <p:cNvSpPr/>
          <p:nvPr/>
        </p:nvSpPr>
        <p:spPr>
          <a:xfrm>
            <a:off x="960120" y="2139696"/>
            <a:ext cx="4114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5F5F4"/>
                </a:solidFill>
              </a:rPr>
              <a:t>Conversión Grayscale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960120" y="2395728"/>
            <a:ext cx="78181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A8A29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cv2.cvtColor(BGR→GRAY) — las imágenes de entrenamiento son en escala de grises, igual que el modelo</a:t>
            </a:r>
            <a:endParaRPr lang="en-US" sz="950" dirty="0"/>
          </a:p>
        </p:txBody>
      </p:sp>
      <p:sp>
        <p:nvSpPr>
          <p:cNvPr id="18" name="Shape 16"/>
          <p:cNvSpPr/>
          <p:nvPr/>
        </p:nvSpPr>
        <p:spPr>
          <a:xfrm>
            <a:off x="274320" y="2880360"/>
            <a:ext cx="411480" cy="411480"/>
          </a:xfrm>
          <a:prstGeom prst="ellipse">
            <a:avLst/>
          </a:prstGeom>
          <a:solidFill>
            <a:srgbClr val="FBBF24"/>
          </a:solidFill>
          <a:ln w="12700">
            <a:solidFill>
              <a:srgbClr val="FBBF24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19" name="Text 17"/>
          <p:cNvSpPr/>
          <p:nvPr/>
        </p:nvSpPr>
        <p:spPr>
          <a:xfrm>
            <a:off x="274320" y="288036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5F5F4"/>
                </a:solidFill>
              </a:rPr>
              <a:t>3</a:t>
            </a:r>
            <a:endParaRPr lang="en-US" sz="1300" dirty="0"/>
          </a:p>
        </p:txBody>
      </p:sp>
      <p:sp>
        <p:nvSpPr>
          <p:cNvPr id="20" name="Shape 18"/>
          <p:cNvSpPr/>
          <p:nvPr/>
        </p:nvSpPr>
        <p:spPr>
          <a:xfrm>
            <a:off x="457200" y="3291840"/>
            <a:ext cx="27432" cy="320040"/>
          </a:xfrm>
          <a:prstGeom prst="rect">
            <a:avLst/>
          </a:prstGeom>
          <a:solidFill>
            <a:srgbClr val="A8A29E">
              <a:alpha val="50000"/>
            </a:srgbClr>
          </a:solidFill>
          <a:ln w="12700">
            <a:solidFill>
              <a:srgbClr val="A8A29E">
                <a:alpha val="50000"/>
              </a:srgbClr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21" name="Shape 19"/>
          <p:cNvSpPr/>
          <p:nvPr/>
        </p:nvSpPr>
        <p:spPr>
          <a:xfrm>
            <a:off x="822960" y="2834640"/>
            <a:ext cx="8138160" cy="594360"/>
          </a:xfrm>
          <a:prstGeom prst="rect">
            <a:avLst/>
          </a:prstGeom>
          <a:solidFill>
            <a:srgbClr val="2D2D2D"/>
          </a:solidFill>
          <a:ln w="12700">
            <a:solidFill>
              <a:srgbClr val="FBBF24">
                <a:alpha val="25000"/>
              </a:srgbClr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s-ES"/>
          </a:p>
        </p:txBody>
      </p:sp>
      <p:sp>
        <p:nvSpPr>
          <p:cNvPr id="22" name="Text 20"/>
          <p:cNvSpPr/>
          <p:nvPr/>
        </p:nvSpPr>
        <p:spPr>
          <a:xfrm>
            <a:off x="960120" y="2871216"/>
            <a:ext cx="4114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5F5F4"/>
                </a:solidFill>
              </a:rPr>
              <a:t>Detección de Rostros (Haar Cascade)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960120" y="3127248"/>
            <a:ext cx="78181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A8A29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haarcascade_frontalface_default.xml — scaleFactor=1.3, minNeighbors=5, minSize=60×60</a:t>
            </a:r>
            <a:endParaRPr lang="en-US" sz="950" dirty="0"/>
          </a:p>
        </p:txBody>
      </p:sp>
      <p:sp>
        <p:nvSpPr>
          <p:cNvPr id="24" name="Shape 22"/>
          <p:cNvSpPr/>
          <p:nvPr/>
        </p:nvSpPr>
        <p:spPr>
          <a:xfrm>
            <a:off x="274320" y="3611880"/>
            <a:ext cx="411480" cy="411480"/>
          </a:xfrm>
          <a:prstGeom prst="ellipse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25" name="Text 23"/>
          <p:cNvSpPr/>
          <p:nvPr/>
        </p:nvSpPr>
        <p:spPr>
          <a:xfrm>
            <a:off x="274320" y="361188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5F5F4"/>
                </a:solidFill>
              </a:rPr>
              <a:t>4</a:t>
            </a:r>
            <a:endParaRPr lang="en-US" sz="1300" dirty="0"/>
          </a:p>
        </p:txBody>
      </p:sp>
      <p:sp>
        <p:nvSpPr>
          <p:cNvPr id="26" name="Shape 24"/>
          <p:cNvSpPr/>
          <p:nvPr/>
        </p:nvSpPr>
        <p:spPr>
          <a:xfrm>
            <a:off x="457200" y="4023360"/>
            <a:ext cx="27432" cy="320040"/>
          </a:xfrm>
          <a:prstGeom prst="rect">
            <a:avLst/>
          </a:prstGeom>
          <a:solidFill>
            <a:srgbClr val="A8A29E">
              <a:alpha val="50000"/>
            </a:srgbClr>
          </a:solidFill>
          <a:ln w="12700">
            <a:solidFill>
              <a:srgbClr val="A8A29E">
                <a:alpha val="50000"/>
              </a:srgbClr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27" name="Shape 25"/>
          <p:cNvSpPr/>
          <p:nvPr/>
        </p:nvSpPr>
        <p:spPr>
          <a:xfrm>
            <a:off x="822960" y="3566160"/>
            <a:ext cx="8138160" cy="594360"/>
          </a:xfrm>
          <a:prstGeom prst="rect">
            <a:avLst/>
          </a:prstGeom>
          <a:solidFill>
            <a:srgbClr val="2D2D2D"/>
          </a:solidFill>
          <a:ln w="12700">
            <a:solidFill>
              <a:srgbClr val="7C3AED">
                <a:alpha val="25000"/>
              </a:srgbClr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s-ES"/>
          </a:p>
        </p:txBody>
      </p:sp>
      <p:sp>
        <p:nvSpPr>
          <p:cNvPr id="28" name="Text 26"/>
          <p:cNvSpPr/>
          <p:nvPr/>
        </p:nvSpPr>
        <p:spPr>
          <a:xfrm>
            <a:off x="960120" y="3602736"/>
            <a:ext cx="4114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5F5F4"/>
                </a:solidFill>
              </a:rPr>
              <a:t>Preprocesamiento del Rostro</a:t>
            </a:r>
            <a:endParaRPr lang="en-US" sz="1100" dirty="0"/>
          </a:p>
        </p:txBody>
      </p:sp>
      <p:sp>
        <p:nvSpPr>
          <p:cNvPr id="29" name="Text 27"/>
          <p:cNvSpPr/>
          <p:nvPr/>
        </p:nvSpPr>
        <p:spPr>
          <a:xfrm>
            <a:off x="960120" y="3858768"/>
            <a:ext cx="78181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A8A29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Recortar ROI → resize(48×48) → normalizar /255 → expandir dims → shape (1,48,48,1)</a:t>
            </a:r>
            <a:endParaRPr lang="en-US" sz="950" dirty="0"/>
          </a:p>
        </p:txBody>
      </p:sp>
      <p:sp>
        <p:nvSpPr>
          <p:cNvPr id="30" name="Shape 28"/>
          <p:cNvSpPr/>
          <p:nvPr/>
        </p:nvSpPr>
        <p:spPr>
          <a:xfrm>
            <a:off x="274320" y="4343400"/>
            <a:ext cx="411480" cy="411480"/>
          </a:xfrm>
          <a:prstGeom prst="ellipse">
            <a:avLst/>
          </a:prstGeom>
          <a:solidFill>
            <a:srgbClr val="A8A29E"/>
          </a:solidFill>
          <a:ln w="12700">
            <a:solidFill>
              <a:srgbClr val="A8A29E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31" name="Text 29"/>
          <p:cNvSpPr/>
          <p:nvPr/>
        </p:nvSpPr>
        <p:spPr>
          <a:xfrm>
            <a:off x="274320" y="434340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5F5F4"/>
                </a:solidFill>
              </a:rPr>
              <a:t>5</a:t>
            </a:r>
            <a:endParaRPr lang="en-US" sz="1300" dirty="0"/>
          </a:p>
        </p:txBody>
      </p:sp>
      <p:sp>
        <p:nvSpPr>
          <p:cNvPr id="32" name="Shape 30"/>
          <p:cNvSpPr/>
          <p:nvPr/>
        </p:nvSpPr>
        <p:spPr>
          <a:xfrm>
            <a:off x="822960" y="4297680"/>
            <a:ext cx="8138160" cy="594360"/>
          </a:xfrm>
          <a:prstGeom prst="rect">
            <a:avLst/>
          </a:prstGeom>
          <a:solidFill>
            <a:srgbClr val="2D2D2D"/>
          </a:solidFill>
          <a:ln w="12700">
            <a:solidFill>
              <a:srgbClr val="A8A29E">
                <a:alpha val="25000"/>
              </a:srgbClr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s-ES"/>
          </a:p>
        </p:txBody>
      </p:sp>
      <p:sp>
        <p:nvSpPr>
          <p:cNvPr id="33" name="Text 31"/>
          <p:cNvSpPr/>
          <p:nvPr/>
        </p:nvSpPr>
        <p:spPr>
          <a:xfrm>
            <a:off x="960120" y="4334256"/>
            <a:ext cx="4114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5F5F4"/>
                </a:solidFill>
              </a:rPr>
              <a:t>Predicción y Visualización</a:t>
            </a:r>
            <a:endParaRPr lang="en-US" sz="1100" dirty="0"/>
          </a:p>
        </p:txBody>
      </p:sp>
      <p:sp>
        <p:nvSpPr>
          <p:cNvPr id="34" name="Text 32"/>
          <p:cNvSpPr/>
          <p:nvPr/>
        </p:nvSpPr>
        <p:spPr>
          <a:xfrm>
            <a:off x="960120" y="4590288"/>
            <a:ext cx="78181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A8A29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model.predict() → argmax → emotion_labels[idx] + confianza % → cv2.putText sobre el frame</a:t>
            </a:r>
            <a:endParaRPr lang="en-US" sz="9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1C1C1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73152" cy="5143500"/>
          </a:xfrm>
          <a:prstGeom prst="rect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3" name="Text 1"/>
          <p:cNvSpPr/>
          <p:nvPr/>
        </p:nvSpPr>
        <p:spPr>
          <a:xfrm>
            <a:off x="274320" y="182880"/>
            <a:ext cx="8595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5F5F4"/>
                </a:solidFill>
              </a:rPr>
              <a:t>Evaluación del Modelo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274320" y="731520"/>
            <a:ext cx="8595360" cy="27432"/>
          </a:xfrm>
          <a:prstGeom prst="rect">
            <a:avLst/>
          </a:prstGeom>
          <a:solidFill>
            <a:srgbClr val="EF4444">
              <a:alpha val="40000"/>
            </a:srgbClr>
          </a:solidFill>
          <a:ln w="12700">
            <a:solidFill>
              <a:srgbClr val="EF4444">
                <a:alpha val="40000"/>
              </a:srgbClr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5" name="Shape 3"/>
          <p:cNvSpPr/>
          <p:nvPr/>
        </p:nvSpPr>
        <p:spPr>
          <a:xfrm>
            <a:off x="274320" y="914400"/>
            <a:ext cx="2011680" cy="1463040"/>
          </a:xfrm>
          <a:prstGeom prst="rect">
            <a:avLst/>
          </a:prstGeom>
          <a:solidFill>
            <a:srgbClr val="2D2D2D"/>
          </a:solidFill>
          <a:ln w="12700">
            <a:solidFill>
              <a:srgbClr val="EF4444">
                <a:alpha val="30000"/>
              </a:srgbClr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s-ES"/>
          </a:p>
        </p:txBody>
      </p:sp>
      <p:sp>
        <p:nvSpPr>
          <p:cNvPr id="6" name="Text 4"/>
          <p:cNvSpPr/>
          <p:nvPr/>
        </p:nvSpPr>
        <p:spPr>
          <a:xfrm>
            <a:off x="274320" y="960120"/>
            <a:ext cx="20116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dirty="0">
                <a:solidFill>
                  <a:srgbClr val="000000"/>
                </a:solidFill>
              </a:rPr>
              <a:t>🎯</a:t>
            </a:r>
            <a:endParaRPr lang="en-US" sz="2200" dirty="0"/>
          </a:p>
        </p:txBody>
      </p:sp>
      <p:sp>
        <p:nvSpPr>
          <p:cNvPr id="7" name="Text 5"/>
          <p:cNvSpPr/>
          <p:nvPr/>
        </p:nvSpPr>
        <p:spPr>
          <a:xfrm>
            <a:off x="274320" y="1371600"/>
            <a:ext cx="20116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5F5F4"/>
                </a:solidFill>
              </a:rPr>
              <a:t>Precisión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b="1" dirty="0">
                <a:solidFill>
                  <a:srgbClr val="F5F5F4"/>
                </a:solidFill>
              </a:rPr>
              <a:t>(Precision)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347472" y="1810512"/>
            <a:ext cx="186537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A8A29E"/>
                </a:solidFill>
              </a:rPr>
              <a:t>Proporción de predicciones positivas correctas por clase</a:t>
            </a:r>
            <a:endParaRPr lang="en-US" sz="850" dirty="0"/>
          </a:p>
        </p:txBody>
      </p:sp>
      <p:sp>
        <p:nvSpPr>
          <p:cNvPr id="9" name="Shape 7"/>
          <p:cNvSpPr/>
          <p:nvPr/>
        </p:nvSpPr>
        <p:spPr>
          <a:xfrm>
            <a:off x="2468880" y="914400"/>
            <a:ext cx="2011680" cy="1463040"/>
          </a:xfrm>
          <a:prstGeom prst="rect">
            <a:avLst/>
          </a:prstGeom>
          <a:solidFill>
            <a:srgbClr val="2D2D2D"/>
          </a:solidFill>
          <a:ln w="12700">
            <a:solidFill>
              <a:srgbClr val="EF4444">
                <a:alpha val="30000"/>
              </a:srgbClr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s-ES"/>
          </a:p>
        </p:txBody>
      </p:sp>
      <p:sp>
        <p:nvSpPr>
          <p:cNvPr id="10" name="Text 8"/>
          <p:cNvSpPr/>
          <p:nvPr/>
        </p:nvSpPr>
        <p:spPr>
          <a:xfrm>
            <a:off x="2468880" y="960120"/>
            <a:ext cx="20116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dirty="0">
                <a:solidFill>
                  <a:srgbClr val="000000"/>
                </a:solidFill>
              </a:rPr>
              <a:t>🔎</a:t>
            </a:r>
            <a:endParaRPr lang="en-US" sz="2200" dirty="0"/>
          </a:p>
        </p:txBody>
      </p:sp>
      <p:sp>
        <p:nvSpPr>
          <p:cNvPr id="11" name="Text 9"/>
          <p:cNvSpPr/>
          <p:nvPr/>
        </p:nvSpPr>
        <p:spPr>
          <a:xfrm>
            <a:off x="2468880" y="1371600"/>
            <a:ext cx="20116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5F5F4"/>
                </a:solidFill>
              </a:rPr>
              <a:t>Exhaustividad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b="1" dirty="0">
                <a:solidFill>
                  <a:srgbClr val="F5F5F4"/>
                </a:solidFill>
              </a:rPr>
              <a:t>(Recall)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2542032" y="1810512"/>
            <a:ext cx="186537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A8A29E"/>
                </a:solidFill>
              </a:rPr>
              <a:t>Proporción de casos reales correctamente identificados</a:t>
            </a:r>
            <a:endParaRPr lang="en-US" sz="850" dirty="0"/>
          </a:p>
        </p:txBody>
      </p:sp>
      <p:sp>
        <p:nvSpPr>
          <p:cNvPr id="13" name="Shape 11"/>
          <p:cNvSpPr/>
          <p:nvPr/>
        </p:nvSpPr>
        <p:spPr>
          <a:xfrm>
            <a:off x="4663440" y="914400"/>
            <a:ext cx="2011680" cy="1463040"/>
          </a:xfrm>
          <a:prstGeom prst="rect">
            <a:avLst/>
          </a:prstGeom>
          <a:solidFill>
            <a:srgbClr val="2D2D2D"/>
          </a:solidFill>
          <a:ln w="12700">
            <a:solidFill>
              <a:srgbClr val="EF4444">
                <a:alpha val="30000"/>
              </a:srgbClr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s-ES"/>
          </a:p>
        </p:txBody>
      </p:sp>
      <p:sp>
        <p:nvSpPr>
          <p:cNvPr id="14" name="Text 12"/>
          <p:cNvSpPr/>
          <p:nvPr/>
        </p:nvSpPr>
        <p:spPr>
          <a:xfrm>
            <a:off x="4663440" y="960120"/>
            <a:ext cx="20116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dirty="0">
                <a:solidFill>
                  <a:srgbClr val="000000"/>
                </a:solidFill>
              </a:rPr>
              <a:t>⚖️</a:t>
            </a:r>
            <a:endParaRPr lang="en-US" sz="2200" dirty="0"/>
          </a:p>
        </p:txBody>
      </p:sp>
      <p:sp>
        <p:nvSpPr>
          <p:cNvPr id="15" name="Text 13"/>
          <p:cNvSpPr/>
          <p:nvPr/>
        </p:nvSpPr>
        <p:spPr>
          <a:xfrm>
            <a:off x="4663440" y="1371600"/>
            <a:ext cx="20116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5F5F4"/>
                </a:solidFill>
              </a:rPr>
              <a:t>F1-Score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4736592" y="1810512"/>
            <a:ext cx="186537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A8A29E"/>
                </a:solidFill>
              </a:rPr>
              <a:t>Media armónica entre precision y recall</a:t>
            </a:r>
            <a:endParaRPr lang="en-US" sz="850" dirty="0"/>
          </a:p>
        </p:txBody>
      </p:sp>
      <p:sp>
        <p:nvSpPr>
          <p:cNvPr id="17" name="Shape 15"/>
          <p:cNvSpPr/>
          <p:nvPr/>
        </p:nvSpPr>
        <p:spPr>
          <a:xfrm>
            <a:off x="6858000" y="914400"/>
            <a:ext cx="2011680" cy="1463040"/>
          </a:xfrm>
          <a:prstGeom prst="rect">
            <a:avLst/>
          </a:prstGeom>
          <a:solidFill>
            <a:srgbClr val="2D2D2D"/>
          </a:solidFill>
          <a:ln w="12700">
            <a:solidFill>
              <a:srgbClr val="EF4444">
                <a:alpha val="30000"/>
              </a:srgbClr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s-ES"/>
          </a:p>
        </p:txBody>
      </p:sp>
      <p:sp>
        <p:nvSpPr>
          <p:cNvPr id="18" name="Text 16"/>
          <p:cNvSpPr/>
          <p:nvPr/>
        </p:nvSpPr>
        <p:spPr>
          <a:xfrm>
            <a:off x="6858000" y="960120"/>
            <a:ext cx="20116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dirty="0">
                <a:solidFill>
                  <a:srgbClr val="000000"/>
                </a:solidFill>
              </a:rPr>
              <a:t>📈</a:t>
            </a:r>
            <a:endParaRPr lang="en-US" sz="2200" dirty="0"/>
          </a:p>
        </p:txBody>
      </p:sp>
      <p:sp>
        <p:nvSpPr>
          <p:cNvPr id="19" name="Text 17"/>
          <p:cNvSpPr/>
          <p:nvPr/>
        </p:nvSpPr>
        <p:spPr>
          <a:xfrm>
            <a:off x="6858000" y="1371600"/>
            <a:ext cx="20116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5F5F4"/>
                </a:solidFill>
              </a:rPr>
              <a:t>Accuracy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b="1" dirty="0">
                <a:solidFill>
                  <a:srgbClr val="F5F5F4"/>
                </a:solidFill>
              </a:rPr>
              <a:t>Global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6931152" y="1810512"/>
            <a:ext cx="186537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A8A29E"/>
                </a:solidFill>
              </a:rPr>
              <a:t>Porcentaje total de predicciones correctas en test set</a:t>
            </a:r>
            <a:endParaRPr lang="en-US" sz="850" dirty="0"/>
          </a:p>
        </p:txBody>
      </p:sp>
      <p:sp>
        <p:nvSpPr>
          <p:cNvPr id="21" name="Shape 19"/>
          <p:cNvSpPr/>
          <p:nvPr/>
        </p:nvSpPr>
        <p:spPr>
          <a:xfrm>
            <a:off x="274320" y="2560320"/>
            <a:ext cx="2630562" cy="2331720"/>
          </a:xfrm>
          <a:prstGeom prst="rect">
            <a:avLst/>
          </a:prstGeom>
          <a:solidFill>
            <a:srgbClr val="2D2D2D"/>
          </a:solidFill>
          <a:ln w="12700">
            <a:solidFill>
              <a:srgbClr val="FBBF24">
                <a:alpha val="30000"/>
              </a:srgbClr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s-ES"/>
          </a:p>
        </p:txBody>
      </p:sp>
      <p:sp>
        <p:nvSpPr>
          <p:cNvPr id="22" name="Text 20"/>
          <p:cNvSpPr/>
          <p:nvPr/>
        </p:nvSpPr>
        <p:spPr>
          <a:xfrm>
            <a:off x="274320" y="2560320"/>
            <a:ext cx="299037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BBF24"/>
                </a:solidFill>
              </a:rPr>
              <a:t>📊  Matriz de Confusión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457200" y="3017520"/>
            <a:ext cx="3749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A8A29E"/>
                </a:solidFill>
              </a:rPr>
              <a:t>• Eje X: Predicción del modelo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457200" y="3319272"/>
            <a:ext cx="3749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A8A29E"/>
                </a:solidFill>
              </a:rPr>
              <a:t>• Eje Y: Clase real de la imagen</a:t>
            </a:r>
            <a:endParaRPr lang="en-US" sz="1000" dirty="0"/>
          </a:p>
        </p:txBody>
      </p:sp>
      <p:sp>
        <p:nvSpPr>
          <p:cNvPr id="25" name="Text 23"/>
          <p:cNvSpPr/>
          <p:nvPr/>
        </p:nvSpPr>
        <p:spPr>
          <a:xfrm>
            <a:off x="457200" y="3621024"/>
            <a:ext cx="3749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A8A29E"/>
                </a:solidFill>
              </a:rPr>
              <a:t>• Diagonal principal: predicciones correctas</a:t>
            </a:r>
            <a:endParaRPr lang="en-US" sz="1000" dirty="0"/>
          </a:p>
        </p:txBody>
      </p:sp>
      <p:sp>
        <p:nvSpPr>
          <p:cNvPr id="26" name="Text 24"/>
          <p:cNvSpPr/>
          <p:nvPr/>
        </p:nvSpPr>
        <p:spPr>
          <a:xfrm>
            <a:off x="457200" y="3922776"/>
            <a:ext cx="3749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A8A29E"/>
                </a:solidFill>
              </a:rPr>
              <a:t>• Off-diagonal: confusiones entre clases</a:t>
            </a:r>
            <a:endParaRPr lang="en-US" sz="1000" dirty="0"/>
          </a:p>
        </p:txBody>
      </p:sp>
      <p:sp>
        <p:nvSpPr>
          <p:cNvPr id="27" name="Text 25"/>
          <p:cNvSpPr/>
          <p:nvPr/>
        </p:nvSpPr>
        <p:spPr>
          <a:xfrm>
            <a:off x="457200" y="4224528"/>
            <a:ext cx="3749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A8A29E"/>
                </a:solidFill>
              </a:rPr>
              <a:t>• Se visualiza con Matplotlib (imshow)</a:t>
            </a:r>
            <a:endParaRPr lang="en-US" sz="1000" dirty="0"/>
          </a:p>
        </p:txBody>
      </p:sp>
      <p:sp>
        <p:nvSpPr>
          <p:cNvPr id="28" name="Text 26"/>
          <p:cNvSpPr/>
          <p:nvPr/>
        </p:nvSpPr>
        <p:spPr>
          <a:xfrm>
            <a:off x="457200" y="4526280"/>
            <a:ext cx="3749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A8A29E"/>
                </a:solidFill>
              </a:rPr>
              <a:t>• Anotaciones numéricas en cada celda</a:t>
            </a:r>
            <a:endParaRPr lang="en-US" sz="1000" dirty="0"/>
          </a:p>
        </p:txBody>
      </p:sp>
      <p:pic>
        <p:nvPicPr>
          <p:cNvPr id="34" name="Imagen 33">
            <a:extLst>
              <a:ext uri="{FF2B5EF4-FFF2-40B4-BE49-F238E27FC236}">
                <a16:creationId xmlns:a16="http://schemas.microsoft.com/office/drawing/2014/main" id="{646203C6-54B7-25FC-1FDE-A6C8D12CB5F2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8437" t="5680" b="6072"/>
          <a:stretch>
            <a:fillRect/>
          </a:stretch>
        </p:blipFill>
        <p:spPr>
          <a:xfrm>
            <a:off x="6601968" y="2727484"/>
            <a:ext cx="2408639" cy="1935956"/>
          </a:xfrm>
          <a:prstGeom prst="rect">
            <a:avLst/>
          </a:prstGeom>
        </p:spPr>
      </p:pic>
      <p:pic>
        <p:nvPicPr>
          <p:cNvPr id="35" name="Imagen 34">
            <a:extLst>
              <a:ext uri="{FF2B5EF4-FFF2-40B4-BE49-F238E27FC236}">
                <a16:creationId xmlns:a16="http://schemas.microsoft.com/office/drawing/2014/main" id="{81C5B8A9-8545-1FFE-6B69-38420A68C42F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r="6970"/>
          <a:stretch>
            <a:fillRect/>
          </a:stretch>
        </p:blipFill>
        <p:spPr>
          <a:xfrm>
            <a:off x="2970550" y="2809032"/>
            <a:ext cx="3565749" cy="1285655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1C1C1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73152" cy="5143500"/>
          </a:xfrm>
          <a:prstGeom prst="rect">
            <a:avLst/>
          </a:prstGeom>
          <a:solidFill>
            <a:srgbClr val="F97316"/>
          </a:solidFill>
          <a:ln w="12700">
            <a:solidFill>
              <a:srgbClr val="F97316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3" name="Text 1"/>
          <p:cNvSpPr/>
          <p:nvPr/>
        </p:nvSpPr>
        <p:spPr>
          <a:xfrm>
            <a:off x="274320" y="182880"/>
            <a:ext cx="8595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5F5F4"/>
                </a:solidFill>
              </a:rPr>
              <a:t>Stack Tecnológico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274320" y="731520"/>
            <a:ext cx="8595360" cy="27432"/>
          </a:xfrm>
          <a:prstGeom prst="rect">
            <a:avLst/>
          </a:prstGeom>
          <a:solidFill>
            <a:srgbClr val="F97316">
              <a:alpha val="40000"/>
            </a:srgbClr>
          </a:solidFill>
          <a:ln w="12700">
            <a:solidFill>
              <a:srgbClr val="F97316">
                <a:alpha val="40000"/>
              </a:srgbClr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5" name="Shape 3"/>
          <p:cNvSpPr/>
          <p:nvPr/>
        </p:nvSpPr>
        <p:spPr>
          <a:xfrm>
            <a:off x="274320" y="960120"/>
            <a:ext cx="2788920" cy="1737360"/>
          </a:xfrm>
          <a:prstGeom prst="rect">
            <a:avLst/>
          </a:prstGeom>
          <a:solidFill>
            <a:srgbClr val="2D2D2D"/>
          </a:solidFill>
          <a:ln w="12700">
            <a:solidFill>
              <a:srgbClr val="FBBF24">
                <a:alpha val="35000"/>
              </a:srgbClr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s-ES"/>
          </a:p>
        </p:txBody>
      </p:sp>
      <p:sp>
        <p:nvSpPr>
          <p:cNvPr id="6" name="Shape 4"/>
          <p:cNvSpPr/>
          <p:nvPr/>
        </p:nvSpPr>
        <p:spPr>
          <a:xfrm>
            <a:off x="274320" y="960120"/>
            <a:ext cx="2788920" cy="54864"/>
          </a:xfrm>
          <a:prstGeom prst="rect">
            <a:avLst/>
          </a:prstGeom>
          <a:solidFill>
            <a:srgbClr val="FBBF24"/>
          </a:solidFill>
          <a:ln w="12700">
            <a:solidFill>
              <a:srgbClr val="FBBF24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7" name="Text 5"/>
          <p:cNvSpPr/>
          <p:nvPr/>
        </p:nvSpPr>
        <p:spPr>
          <a:xfrm>
            <a:off x="365760" y="1051560"/>
            <a:ext cx="26517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5F5F4"/>
                </a:solidFill>
              </a:rPr>
              <a:t>🔥  TensorFlow / Keras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365760" y="1417320"/>
            <a:ext cx="26517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i="1" dirty="0">
                <a:solidFill>
                  <a:srgbClr val="FBBF24"/>
                </a:solidFill>
              </a:rPr>
              <a:t>Framework de Deep Learning</a:t>
            </a:r>
            <a:endParaRPr lang="en-US" sz="950" dirty="0"/>
          </a:p>
        </p:txBody>
      </p:sp>
      <p:sp>
        <p:nvSpPr>
          <p:cNvPr id="9" name="Text 7"/>
          <p:cNvSpPr/>
          <p:nvPr/>
        </p:nvSpPr>
        <p:spPr>
          <a:xfrm>
            <a:off x="365760" y="1673352"/>
            <a:ext cx="26517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A8A29E"/>
                </a:solidFill>
              </a:rPr>
              <a:t>API Sequential, capas Conv2D, BatchNorm, Dropout, Dense, GlobalAvgPool. Callbacks EarlyStopping, ReduceLR, ModelCheckpoint.</a:t>
            </a:r>
            <a:endParaRPr lang="en-US" sz="900" dirty="0"/>
          </a:p>
        </p:txBody>
      </p:sp>
      <p:sp>
        <p:nvSpPr>
          <p:cNvPr id="10" name="Shape 8"/>
          <p:cNvSpPr/>
          <p:nvPr/>
        </p:nvSpPr>
        <p:spPr>
          <a:xfrm>
            <a:off x="3246120" y="960120"/>
            <a:ext cx="2788920" cy="1737360"/>
          </a:xfrm>
          <a:prstGeom prst="rect">
            <a:avLst/>
          </a:prstGeom>
          <a:solidFill>
            <a:srgbClr val="2D2D2D"/>
          </a:solidFill>
          <a:ln w="12700">
            <a:solidFill>
              <a:srgbClr val="FB923C">
                <a:alpha val="35000"/>
              </a:srgbClr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s-ES"/>
          </a:p>
        </p:txBody>
      </p:sp>
      <p:sp>
        <p:nvSpPr>
          <p:cNvPr id="11" name="Shape 9"/>
          <p:cNvSpPr/>
          <p:nvPr/>
        </p:nvSpPr>
        <p:spPr>
          <a:xfrm>
            <a:off x="3246120" y="960120"/>
            <a:ext cx="2788920" cy="54864"/>
          </a:xfrm>
          <a:prstGeom prst="rect">
            <a:avLst/>
          </a:prstGeom>
          <a:solidFill>
            <a:srgbClr val="FB923C"/>
          </a:solidFill>
          <a:ln w="12700">
            <a:solidFill>
              <a:srgbClr val="FB923C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12" name="Text 10"/>
          <p:cNvSpPr/>
          <p:nvPr/>
        </p:nvSpPr>
        <p:spPr>
          <a:xfrm>
            <a:off x="3337560" y="1051560"/>
            <a:ext cx="26517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5F5F4"/>
                </a:solidFill>
              </a:rPr>
              <a:t>📷  OpenCV (cv2)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3337560" y="1417320"/>
            <a:ext cx="26517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i="1" dirty="0">
                <a:solidFill>
                  <a:srgbClr val="FB923C"/>
                </a:solidFill>
              </a:rPr>
              <a:t>Visión por Computadora</a:t>
            </a:r>
            <a:endParaRPr lang="en-US" sz="950" dirty="0"/>
          </a:p>
        </p:txBody>
      </p:sp>
      <p:sp>
        <p:nvSpPr>
          <p:cNvPr id="14" name="Text 12"/>
          <p:cNvSpPr/>
          <p:nvPr/>
        </p:nvSpPr>
        <p:spPr>
          <a:xfrm>
            <a:off x="3337560" y="1673352"/>
            <a:ext cx="26517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A8A29E"/>
                </a:solidFill>
              </a:rPr>
              <a:t>Captura de video, conversión de color, detección de rostros con Haar Cascade, anotación de frames con rectángulos y texto.</a:t>
            </a:r>
            <a:endParaRPr lang="en-US" sz="900" dirty="0"/>
          </a:p>
        </p:txBody>
      </p:sp>
      <p:sp>
        <p:nvSpPr>
          <p:cNvPr id="15" name="Shape 13"/>
          <p:cNvSpPr/>
          <p:nvPr/>
        </p:nvSpPr>
        <p:spPr>
          <a:xfrm>
            <a:off x="6217920" y="960120"/>
            <a:ext cx="2788920" cy="1737360"/>
          </a:xfrm>
          <a:prstGeom prst="rect">
            <a:avLst/>
          </a:prstGeom>
          <a:solidFill>
            <a:srgbClr val="2D2D2D"/>
          </a:solidFill>
          <a:ln w="12700">
            <a:solidFill>
              <a:srgbClr val="A8A29E">
                <a:alpha val="35000"/>
              </a:srgbClr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s-ES"/>
          </a:p>
        </p:txBody>
      </p:sp>
      <p:sp>
        <p:nvSpPr>
          <p:cNvPr id="16" name="Shape 14"/>
          <p:cNvSpPr/>
          <p:nvPr/>
        </p:nvSpPr>
        <p:spPr>
          <a:xfrm>
            <a:off x="6217920" y="960120"/>
            <a:ext cx="2788920" cy="54864"/>
          </a:xfrm>
          <a:prstGeom prst="rect">
            <a:avLst/>
          </a:prstGeom>
          <a:solidFill>
            <a:srgbClr val="A8A29E"/>
          </a:solidFill>
          <a:ln w="12700">
            <a:solidFill>
              <a:srgbClr val="A8A29E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17" name="Text 15"/>
          <p:cNvSpPr/>
          <p:nvPr/>
        </p:nvSpPr>
        <p:spPr>
          <a:xfrm>
            <a:off x="6309360" y="1051560"/>
            <a:ext cx="26517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5F5F4"/>
                </a:solidFill>
              </a:rPr>
              <a:t>🔢  NumPy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6309360" y="1417320"/>
            <a:ext cx="26517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i="1" dirty="0">
                <a:solidFill>
                  <a:srgbClr val="A8A29E"/>
                </a:solidFill>
              </a:rPr>
              <a:t>Procesamiento Numérico</a:t>
            </a:r>
            <a:endParaRPr lang="en-US" sz="950" dirty="0"/>
          </a:p>
        </p:txBody>
      </p:sp>
      <p:sp>
        <p:nvSpPr>
          <p:cNvPr id="19" name="Text 17"/>
          <p:cNvSpPr/>
          <p:nvPr/>
        </p:nvSpPr>
        <p:spPr>
          <a:xfrm>
            <a:off x="6309360" y="1673352"/>
            <a:ext cx="26517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A8A29E"/>
                </a:solidFill>
              </a:rPr>
              <a:t>Manipulación de arrays, normalización, argmax para predicciones, cálculo de class weights y métricas.</a:t>
            </a:r>
            <a:endParaRPr lang="en-US" sz="900" dirty="0"/>
          </a:p>
        </p:txBody>
      </p:sp>
      <p:sp>
        <p:nvSpPr>
          <p:cNvPr id="20" name="Shape 18"/>
          <p:cNvSpPr/>
          <p:nvPr/>
        </p:nvSpPr>
        <p:spPr>
          <a:xfrm>
            <a:off x="274320" y="2880360"/>
            <a:ext cx="2788920" cy="1737360"/>
          </a:xfrm>
          <a:prstGeom prst="rect">
            <a:avLst/>
          </a:prstGeom>
          <a:solidFill>
            <a:srgbClr val="2D2D2D"/>
          </a:solidFill>
          <a:ln w="12700">
            <a:solidFill>
              <a:srgbClr val="EF4444">
                <a:alpha val="35000"/>
              </a:srgbClr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s-ES"/>
          </a:p>
        </p:txBody>
      </p:sp>
      <p:sp>
        <p:nvSpPr>
          <p:cNvPr id="21" name="Shape 19"/>
          <p:cNvSpPr/>
          <p:nvPr/>
        </p:nvSpPr>
        <p:spPr>
          <a:xfrm>
            <a:off x="274320" y="2880360"/>
            <a:ext cx="2788920" cy="54864"/>
          </a:xfrm>
          <a:prstGeom prst="rect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22" name="Text 20"/>
          <p:cNvSpPr/>
          <p:nvPr/>
        </p:nvSpPr>
        <p:spPr>
          <a:xfrm>
            <a:off x="365760" y="2971800"/>
            <a:ext cx="26517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5F5F4"/>
                </a:solidFill>
              </a:rPr>
              <a:t>📊  scikit-learn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365760" y="3337560"/>
            <a:ext cx="26517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i="1" dirty="0">
                <a:solidFill>
                  <a:srgbClr val="EF4444"/>
                </a:solidFill>
              </a:rPr>
              <a:t>Evaluación de Modelos</a:t>
            </a:r>
            <a:endParaRPr lang="en-US" sz="950" dirty="0"/>
          </a:p>
        </p:txBody>
      </p:sp>
      <p:sp>
        <p:nvSpPr>
          <p:cNvPr id="24" name="Text 22"/>
          <p:cNvSpPr/>
          <p:nvPr/>
        </p:nvSpPr>
        <p:spPr>
          <a:xfrm>
            <a:off x="365760" y="3593592"/>
            <a:ext cx="26517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A8A29E"/>
                </a:solidFill>
              </a:rPr>
              <a:t>confusion_matrix y classification_report para medir precision, recall y F1 por cada clase de emoción.</a:t>
            </a:r>
            <a:endParaRPr lang="en-US" sz="900" dirty="0"/>
          </a:p>
        </p:txBody>
      </p:sp>
      <p:sp>
        <p:nvSpPr>
          <p:cNvPr id="25" name="Shape 23"/>
          <p:cNvSpPr/>
          <p:nvPr/>
        </p:nvSpPr>
        <p:spPr>
          <a:xfrm>
            <a:off x="3246120" y="2880360"/>
            <a:ext cx="2788920" cy="1737360"/>
          </a:xfrm>
          <a:prstGeom prst="rect">
            <a:avLst/>
          </a:prstGeom>
          <a:solidFill>
            <a:srgbClr val="2D2D2D"/>
          </a:solidFill>
          <a:ln w="12700">
            <a:solidFill>
              <a:srgbClr val="7C3AED">
                <a:alpha val="35000"/>
              </a:srgbClr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s-ES"/>
          </a:p>
        </p:txBody>
      </p:sp>
      <p:sp>
        <p:nvSpPr>
          <p:cNvPr id="26" name="Shape 24"/>
          <p:cNvSpPr/>
          <p:nvPr/>
        </p:nvSpPr>
        <p:spPr>
          <a:xfrm>
            <a:off x="3246120" y="2880360"/>
            <a:ext cx="2788920" cy="54864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27" name="Text 25"/>
          <p:cNvSpPr/>
          <p:nvPr/>
        </p:nvSpPr>
        <p:spPr>
          <a:xfrm>
            <a:off x="3337560" y="2971800"/>
            <a:ext cx="26517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5F5F4"/>
                </a:solidFill>
              </a:rPr>
              <a:t>📈  Matplotlib</a:t>
            </a:r>
            <a:endParaRPr lang="en-US" sz="1200" dirty="0"/>
          </a:p>
        </p:txBody>
      </p:sp>
      <p:sp>
        <p:nvSpPr>
          <p:cNvPr id="28" name="Text 26"/>
          <p:cNvSpPr/>
          <p:nvPr/>
        </p:nvSpPr>
        <p:spPr>
          <a:xfrm>
            <a:off x="3337560" y="3337560"/>
            <a:ext cx="26517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i="1" dirty="0">
                <a:solidFill>
                  <a:srgbClr val="7C3AED"/>
                </a:solidFill>
              </a:rPr>
              <a:t>Visualización</a:t>
            </a:r>
            <a:endParaRPr lang="en-US" sz="950" dirty="0"/>
          </a:p>
        </p:txBody>
      </p:sp>
      <p:sp>
        <p:nvSpPr>
          <p:cNvPr id="29" name="Text 27"/>
          <p:cNvSpPr/>
          <p:nvPr/>
        </p:nvSpPr>
        <p:spPr>
          <a:xfrm>
            <a:off x="3337560" y="3593592"/>
            <a:ext cx="26517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A8A29E"/>
                </a:solidFill>
              </a:rPr>
              <a:t>Graficación de la matriz de confusión con imshow, etiquetas de clase, colorbar y anotaciones numéricas.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1C1C1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914400" y="-914400"/>
            <a:ext cx="5486400" cy="5486400"/>
          </a:xfrm>
          <a:prstGeom prst="ellipse">
            <a:avLst/>
          </a:prstGeom>
          <a:solidFill>
            <a:srgbClr val="F97316">
              <a:alpha val="10000"/>
            </a:srgbClr>
          </a:solidFill>
          <a:ln w="12700">
            <a:solidFill>
              <a:srgbClr val="F97316">
                <a:alpha val="20000"/>
              </a:srgbClr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3" name="Shape 1"/>
          <p:cNvSpPr/>
          <p:nvPr/>
        </p:nvSpPr>
        <p:spPr>
          <a:xfrm>
            <a:off x="5943600" y="2286000"/>
            <a:ext cx="4572000" cy="4572000"/>
          </a:xfrm>
          <a:prstGeom prst="ellipse">
            <a:avLst/>
          </a:prstGeom>
          <a:solidFill>
            <a:srgbClr val="FB923C">
              <a:alpha val="10000"/>
            </a:srgbClr>
          </a:solidFill>
          <a:ln w="12700">
            <a:solidFill>
              <a:srgbClr val="FB923C">
                <a:alpha val="20000"/>
              </a:srgbClr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4" name="Text 2"/>
          <p:cNvSpPr/>
          <p:nvPr/>
        </p:nvSpPr>
        <p:spPr>
          <a:xfrm>
            <a:off x="3200400" y="457200"/>
            <a:ext cx="27432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5200" dirty="0">
                <a:solidFill>
                  <a:srgbClr val="000000"/>
                </a:solidFill>
              </a:rPr>
              <a:t>🧠</a:t>
            </a:r>
            <a:endParaRPr lang="en-US" sz="5200" dirty="0"/>
          </a:p>
        </p:txBody>
      </p:sp>
      <p:sp>
        <p:nvSpPr>
          <p:cNvPr id="5" name="Text 3"/>
          <p:cNvSpPr/>
          <p:nvPr/>
        </p:nvSpPr>
        <p:spPr>
          <a:xfrm>
            <a:off x="914400" y="1554480"/>
            <a:ext cx="73152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600" b="1" dirty="0">
                <a:solidFill>
                  <a:srgbClr val="F5F5F4"/>
                </a:solidFill>
              </a:rPr>
              <a:t>Conclusión</a:t>
            </a:r>
            <a:endParaRPr lang="en-US" sz="3600" dirty="0"/>
          </a:p>
        </p:txBody>
      </p:sp>
      <p:sp>
        <p:nvSpPr>
          <p:cNvPr id="6" name="Shape 4"/>
          <p:cNvSpPr/>
          <p:nvPr/>
        </p:nvSpPr>
        <p:spPr>
          <a:xfrm>
            <a:off x="1188720" y="2331720"/>
            <a:ext cx="6766560" cy="502920"/>
          </a:xfrm>
          <a:prstGeom prst="rect">
            <a:avLst/>
          </a:prstGeom>
          <a:solidFill>
            <a:srgbClr val="2D2D2D"/>
          </a:solidFill>
          <a:ln w="12700">
            <a:solidFill>
              <a:srgbClr val="F97316">
                <a:alpha val="25000"/>
              </a:srgbClr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7" name="Text 5"/>
          <p:cNvSpPr/>
          <p:nvPr/>
        </p:nvSpPr>
        <p:spPr>
          <a:xfrm>
            <a:off x="1280160" y="2331720"/>
            <a:ext cx="6583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5F5F4"/>
                </a:solidFill>
              </a:rPr>
              <a:t>✓  CNN de 4 bloques con BatchNorm, Dropout progresivo y GlobalAveragePooling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1188720" y="2926080"/>
            <a:ext cx="6766560" cy="502920"/>
          </a:xfrm>
          <a:prstGeom prst="rect">
            <a:avLst/>
          </a:prstGeom>
          <a:solidFill>
            <a:srgbClr val="2D2D2D"/>
          </a:solidFill>
          <a:ln w="12700">
            <a:solidFill>
              <a:srgbClr val="F97316">
                <a:alpha val="25000"/>
              </a:srgbClr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9" name="Text 7"/>
          <p:cNvSpPr/>
          <p:nvPr/>
        </p:nvSpPr>
        <p:spPr>
          <a:xfrm>
            <a:off x="1280160" y="2926080"/>
            <a:ext cx="6583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5F5F4"/>
                </a:solidFill>
              </a:rPr>
              <a:t>✓  Data Augmentation + Class Weights para datos desbalanceados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1188720" y="3520440"/>
            <a:ext cx="6766560" cy="502920"/>
          </a:xfrm>
          <a:prstGeom prst="rect">
            <a:avLst/>
          </a:prstGeom>
          <a:solidFill>
            <a:srgbClr val="2D2D2D"/>
          </a:solidFill>
          <a:ln w="12700">
            <a:solidFill>
              <a:srgbClr val="F97316">
                <a:alpha val="25000"/>
              </a:srgbClr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11" name="Text 9"/>
          <p:cNvSpPr/>
          <p:nvPr/>
        </p:nvSpPr>
        <p:spPr>
          <a:xfrm>
            <a:off x="1280160" y="3520440"/>
            <a:ext cx="6583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5F5F4"/>
                </a:solidFill>
              </a:rPr>
              <a:t>✓  Pipeline completo: entrenamiento → guardado → inferencia en tiempo real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1188720" y="4114800"/>
            <a:ext cx="6766560" cy="502920"/>
          </a:xfrm>
          <a:prstGeom prst="rect">
            <a:avLst/>
          </a:prstGeom>
          <a:solidFill>
            <a:srgbClr val="2D2D2D"/>
          </a:solidFill>
          <a:ln w="12700">
            <a:solidFill>
              <a:srgbClr val="F97316">
                <a:alpha val="25000"/>
              </a:srgbClr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13" name="Text 11"/>
          <p:cNvSpPr/>
          <p:nvPr/>
        </p:nvSpPr>
        <p:spPr>
          <a:xfrm>
            <a:off x="1280160" y="4114800"/>
            <a:ext cx="6583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5F5F4"/>
                </a:solidFill>
              </a:rPr>
              <a:t>✓  Evaluado con Matriz de Confusión y Classification Report (scikit-learn)</a:t>
            </a:r>
            <a:endParaRPr lang="en-US" sz="11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28</TotalTime>
  <Words>809</Words>
  <Application>Microsoft Office PowerPoint</Application>
  <PresentationFormat>Presentación en pantalla (16:9)</PresentationFormat>
  <Paragraphs>152</Paragraphs>
  <Slides>8</Slides>
  <Notes>8</Notes>
  <HiddenSlides>0</HiddenSlides>
  <MMClips>0</MMClips>
  <ScaleCrop>false</ScaleCrop>
  <HeadingPairs>
    <vt:vector size="6" baseType="variant">
      <vt:variant>
        <vt:lpstr>Fuentes usadas</vt:lpstr>
      </vt:variant>
      <vt:variant>
        <vt:i4>2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8</vt:i4>
      </vt:variant>
    </vt:vector>
  </HeadingPairs>
  <TitlesOfParts>
    <vt:vector size="11" baseType="lpstr">
      <vt:lpstr>Arial</vt:lpstr>
      <vt:lpstr>Consolas</vt:lpstr>
      <vt:lpstr>Office Theme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Detección de Emociones con CNN</dc:title>
  <dc:subject>PptxGenJS Presentation</dc:subject>
  <dc:creator>PptxGenJS</dc:creator>
  <cp:lastModifiedBy>AGUIRRE CORONADO, MIGUEL JUAN</cp:lastModifiedBy>
  <cp:revision>2</cp:revision>
  <dcterms:created xsi:type="dcterms:W3CDTF">2026-05-11T18:34:50Z</dcterms:created>
  <dcterms:modified xsi:type="dcterms:W3CDTF">2026-05-13T17:57:02Z</dcterms:modified>
</cp:coreProperties>
</file>